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  <p:sldMasterId id="2147483651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</p:sldIdLst>
  <p:sldSz cy="6858000" cx="12192000"/>
  <p:notesSz cx="6858000" cy="12192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3" roundtripDataSignature="AMtx7mggIGqA46wnZ/rrAlFOw96DFt/tJ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A71614B2-B5BB-411F-A948-D05152DDA02D}">
  <a:tblStyle styleId="{A71614B2-B5BB-411F-A948-D05152DDA02D}" styleName="Table_0">
    <a:wholeTbl>
      <a:tcTxStyle b="off" i="off">
        <a:font>
          <a:latin typeface="Arial"/>
          <a:ea typeface="Arial"/>
          <a:cs typeface="Arial"/>
        </a:font>
        <a:srgbClr val="000000"/>
      </a:tcTx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</a:tblStyleLst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customschemas.google.com/relationships/presentationmetadata" Target="metadata"/><Relationship Id="rId12" Type="http://schemas.openxmlformats.org/officeDocument/2006/relationships/slide" Target="slides/slide6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g40a09b23a35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" name="Google Shape;17;g40a09b23a35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8" name="Google Shape;18;g40a09b23a35_0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5" name="Google Shape;35;p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6" name="Google Shape;36;p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3fbac02e886_1_199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1" name="Google Shape;71;g3fbac02e886_1_199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2" name="Google Shape;72;g3fbac02e886_1_1997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2" name="Google Shape;132;p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33" name="Google Shape;133;p4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5" name="Google Shape;165;p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66" name="Google Shape;166;p5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4" name="Google Shape;184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85" name="Google Shape;185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(g40a04252c2e_108_0)">
  <p:cSld name="Generated (g40a04252c2e_108_0)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(g40a04252c2e_108_0)">
  <p:cSld name="Generated (g40a04252c2e_108_0)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2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slideLayout" Target="../slideLayouts/slideLayout4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52" r:id="rId1"/>
    <p:sldLayoutId id="2147483653" r:id="rId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hyperlink" Target="http://domplanner-convergence.streamlit.app" TargetMode="External"/><Relationship Id="rId4" Type="http://schemas.openxmlformats.org/officeDocument/2006/relationships/hyperlink" Target="http://github.com/HarikaYanamadala/The_Convergents_Nestle_DOM" TargetMode="External"/><Relationship Id="rId5" Type="http://schemas.openxmlformats.org/officeDocument/2006/relationships/image" Target="../media/image1.png"/><Relationship Id="rId6" Type="http://schemas.openxmlformats.org/officeDocument/2006/relationships/image" Target="../media/image4.png"/><Relationship Id="rId7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EF9F1"/>
        </a:solidFill>
      </p:bgPr>
    </p:bg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g40a09b23a35_0_0"/>
          <p:cNvSpPr/>
          <p:nvPr/>
        </p:nvSpPr>
        <p:spPr>
          <a:xfrm>
            <a:off x="-952500" y="-1378813"/>
            <a:ext cx="5715000" cy="5715000"/>
          </a:xfrm>
          <a:prstGeom prst="ellipse">
            <a:avLst/>
          </a:prstGeom>
          <a:solidFill>
            <a:srgbClr val="D9B98A">
              <a:alpha val="3922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" name="Google Shape;21;g40a09b23a35_0_0"/>
          <p:cNvSpPr/>
          <p:nvPr/>
        </p:nvSpPr>
        <p:spPr>
          <a:xfrm>
            <a:off x="6953250" y="1905000"/>
            <a:ext cx="6667500" cy="6667500"/>
          </a:xfrm>
          <a:prstGeom prst="ellipse">
            <a:avLst/>
          </a:prstGeom>
          <a:solidFill>
            <a:srgbClr val="B8A48A">
              <a:alpha val="5098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" name="Google Shape;22;g40a09b23a35_0_0"/>
          <p:cNvSpPr txBox="1"/>
          <p:nvPr/>
        </p:nvSpPr>
        <p:spPr>
          <a:xfrm>
            <a:off x="762000" y="2088005"/>
            <a:ext cx="10573800" cy="12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420"/>
              <a:buFont typeface="Arial"/>
              <a:buNone/>
            </a:pPr>
            <a:r>
              <a:rPr b="1" i="0" lang="en-US" sz="5420" u="none" cap="none" strike="noStrike">
                <a:solidFill>
                  <a:srgbClr val="2D2118"/>
                </a:solidFill>
                <a:latin typeface="Cambria"/>
                <a:ea typeface="Cambria"/>
                <a:cs typeface="Cambria"/>
                <a:sym typeface="Cambria"/>
              </a:rPr>
              <a:t>Quantum Optimization for </a:t>
            </a:r>
            <a:endParaRPr b="1" i="0" sz="5420" u="none" cap="none" strike="noStrike">
              <a:solidFill>
                <a:srgbClr val="2D2118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420"/>
              <a:buFont typeface="Arial"/>
              <a:buNone/>
            </a:pPr>
            <a:r>
              <a:rPr b="1" i="0" lang="en-US" sz="5420" u="none" cap="none" strike="noStrike">
                <a:solidFill>
                  <a:srgbClr val="8F3645"/>
                </a:solidFill>
                <a:latin typeface="Cambria"/>
                <a:ea typeface="Cambria"/>
                <a:cs typeface="Cambria"/>
                <a:sym typeface="Cambria"/>
              </a:rPr>
              <a:t>Distributed Order Management</a:t>
            </a:r>
            <a:endParaRPr b="1" i="0" sz="5420" u="none" cap="none" strike="noStrike">
              <a:solidFill>
                <a:srgbClr val="8F3645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23" name="Google Shape;23;g40a09b23a35_0_0"/>
          <p:cNvSpPr txBox="1"/>
          <p:nvPr/>
        </p:nvSpPr>
        <p:spPr>
          <a:xfrm>
            <a:off x="785674" y="1780930"/>
            <a:ext cx="115062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D2118"/>
              </a:buClr>
              <a:buSzPts val="1125"/>
              <a:buFont typeface="Arial"/>
              <a:buNone/>
            </a:pPr>
            <a:r>
              <a:rPr b="1" i="0" lang="en-US" sz="1600" u="none" cap="none" strike="noStrike">
                <a:solidFill>
                  <a:srgbClr val="8F3645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1" i="0" lang="en-US" sz="1800" u="none" cap="none" strike="noStrike">
                <a:solidFill>
                  <a:srgbClr val="8F3645"/>
                </a:solidFill>
                <a:latin typeface="Calibri"/>
                <a:ea typeface="Calibri"/>
                <a:cs typeface="Calibri"/>
                <a:sym typeface="Calibri"/>
              </a:rPr>
              <a:t>A HYBRID CLASSICAL + QUANTUM APPROACH</a:t>
            </a:r>
            <a:endParaRPr b="1" i="0" sz="1800" u="none" cap="none" strike="noStrike">
              <a:solidFill>
                <a:srgbClr val="8F364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" name="Google Shape;24;g40a09b23a35_0_0"/>
          <p:cNvSpPr txBox="1"/>
          <p:nvPr/>
        </p:nvSpPr>
        <p:spPr>
          <a:xfrm>
            <a:off x="762000" y="4336171"/>
            <a:ext cx="61911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TEAM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5" name="Google Shape;25;g40a09b23a35_0_0"/>
          <p:cNvGrpSpPr/>
          <p:nvPr/>
        </p:nvGrpSpPr>
        <p:grpSpPr>
          <a:xfrm>
            <a:off x="762000" y="5988142"/>
            <a:ext cx="10668000" cy="387500"/>
            <a:chOff x="0" y="0"/>
            <a:chExt cx="10668000" cy="387500"/>
          </a:xfrm>
        </p:grpSpPr>
        <p:cxnSp>
          <p:nvCxnSpPr>
            <p:cNvPr id="26" name="Google Shape;26;g40a09b23a35_0_0"/>
            <p:cNvCxnSpPr/>
            <p:nvPr/>
          </p:nvCxnSpPr>
          <p:spPr>
            <a:xfrm>
              <a:off x="0" y="0"/>
              <a:ext cx="10668000" cy="0"/>
            </a:xfrm>
            <a:prstGeom prst="straightConnector1">
              <a:avLst/>
            </a:prstGeom>
            <a:solidFill>
              <a:srgbClr val="FFFFFF"/>
            </a:solidFill>
            <a:ln cap="flat" cmpd="sng" w="9525">
              <a:solidFill>
                <a:srgbClr val="E5D8C3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27" name="Google Shape;27;g40a09b23a35_0_0"/>
            <p:cNvSpPr txBox="1"/>
            <p:nvPr/>
          </p:nvSpPr>
          <p:spPr>
            <a:xfrm>
              <a:off x="7810500" y="101600"/>
              <a:ext cx="28575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b" bIns="0" lIns="0" spcFirstLastPara="1" rIns="0" wrap="square" tIns="0">
              <a:no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1" i="0" lang="en-US" sz="1400" u="none" cap="none" strike="noStrike">
                  <a:solidFill>
                    <a:srgbClr val="7A6A58"/>
                  </a:solidFill>
                  <a:latin typeface="Calibri"/>
                  <a:ea typeface="Calibri"/>
                  <a:cs typeface="Calibri"/>
                  <a:sym typeface="Calibri"/>
                </a:rPr>
                <a:t>Demo day </a:t>
              </a:r>
              <a:r>
                <a:rPr b="1" i="0" lang="en-US" sz="1200" u="none" cap="none" strike="noStrike">
                  <a:solidFill>
                    <a:schemeClr val="accent5"/>
                  </a:solidFill>
                  <a:latin typeface="Calibri"/>
                  <a:ea typeface="Calibri"/>
                  <a:cs typeface="Calibri"/>
                  <a:sym typeface="Calibri"/>
                </a:rPr>
                <a:t>· </a:t>
              </a:r>
              <a:r>
                <a:rPr b="1" i="0" lang="en-US" sz="1400" u="none" cap="none" strike="noStrike">
                  <a:solidFill>
                    <a:srgbClr val="7A6A58"/>
                  </a:solidFill>
                  <a:latin typeface="Calibri"/>
                  <a:ea typeface="Calibri"/>
                  <a:cs typeface="Calibri"/>
                  <a:sym typeface="Calibri"/>
                </a:rPr>
                <a:t>September 24, 2026</a:t>
              </a:r>
              <a:endParaRPr b="1" i="0" sz="1400" u="none" cap="none" strike="noStrike">
                <a:solidFill>
                  <a:srgbClr val="7A6A58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8" name="Google Shape;28;g40a09b23a35_0_0"/>
          <p:cNvSpPr txBox="1"/>
          <p:nvPr/>
        </p:nvSpPr>
        <p:spPr>
          <a:xfrm>
            <a:off x="762000" y="4583096"/>
            <a:ext cx="10573800" cy="6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i="0" lang="en-US" sz="4000" u="none" cap="none" strike="noStrike">
                <a:solidFill>
                  <a:srgbClr val="8F3645"/>
                </a:solidFill>
                <a:latin typeface="Cambria"/>
                <a:ea typeface="Cambria"/>
                <a:cs typeface="Cambria"/>
                <a:sym typeface="Cambria"/>
              </a:rPr>
              <a:t>The Convergents</a:t>
            </a:r>
            <a:endParaRPr b="0" i="0" sz="1400" u="none" cap="none" strike="noStrike">
              <a:solidFill>
                <a:srgbClr val="8F3645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" name="Google Shape;29;g40a09b23a35_0_0"/>
          <p:cNvSpPr txBox="1"/>
          <p:nvPr/>
        </p:nvSpPr>
        <p:spPr>
          <a:xfrm>
            <a:off x="762000" y="5255296"/>
            <a:ext cx="5551800" cy="42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4A3B2E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1" i="0" lang="en-US" sz="2000" u="none" cap="none" strike="noStrike">
                <a:solidFill>
                  <a:srgbClr val="4A3B2E"/>
                </a:solidFill>
                <a:latin typeface="Calibri"/>
                <a:ea typeface="Calibri"/>
                <a:cs typeface="Calibri"/>
                <a:sym typeface="Calibri"/>
              </a:rPr>
              <a:t>Harika Yanamadala, </a:t>
            </a:r>
            <a:r>
              <a:rPr b="1" i="0" lang="en-US" sz="20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Induja Bhanu Kodavati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0" name="Google Shape;30;g40a09b23a35_0_0"/>
          <p:cNvPicPr preferRelativeResize="0"/>
          <p:nvPr/>
        </p:nvPicPr>
        <p:blipFill rotWithShape="1">
          <a:blip r:embed="rId3">
            <a:alphaModFix amt="40000"/>
          </a:blip>
          <a:srcRect b="0" l="0" r="0" t="0"/>
          <a:stretch/>
        </p:blipFill>
        <p:spPr>
          <a:xfrm rot="6246801">
            <a:off x="8920710" y="-433311"/>
            <a:ext cx="3809999" cy="3809999"/>
          </a:xfrm>
          <a:prstGeom prst="rect">
            <a:avLst/>
          </a:prstGeom>
          <a:noFill/>
          <a:ln>
            <a:noFill/>
          </a:ln>
        </p:spPr>
      </p:pic>
      <p:sp>
        <p:nvSpPr>
          <p:cNvPr id="31" name="Google Shape;31;g40a09b23a35_0_0"/>
          <p:cNvSpPr txBox="1"/>
          <p:nvPr/>
        </p:nvSpPr>
        <p:spPr>
          <a:xfrm>
            <a:off x="632524" y="329350"/>
            <a:ext cx="39132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1" i="0" lang="en-US" sz="1500" u="none" cap="none" strike="noStrike">
                <a:solidFill>
                  <a:srgbClr val="8F3645"/>
                </a:solidFill>
                <a:latin typeface="Calibri"/>
                <a:ea typeface="Calibri"/>
                <a:cs typeface="Calibri"/>
                <a:sym typeface="Calibri"/>
              </a:rPr>
              <a:t>NESTLÉ × WISER QUANTUM CHALLENGE '2026</a:t>
            </a:r>
            <a:endParaRPr b="1" i="0" sz="1500" u="none" cap="none" strike="noStrike">
              <a:solidFill>
                <a:srgbClr val="8F364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2" name="Google Shape;32;g40a09b23a35_0_0"/>
          <p:cNvCxnSpPr/>
          <p:nvPr/>
        </p:nvCxnSpPr>
        <p:spPr>
          <a:xfrm>
            <a:off x="700196" y="777896"/>
            <a:ext cx="10668000" cy="0"/>
          </a:xfrm>
          <a:prstGeom prst="straightConnector1">
            <a:avLst/>
          </a:prstGeom>
          <a:solidFill>
            <a:srgbClr val="FFFFFF"/>
          </a:solidFill>
          <a:ln cap="flat" cmpd="sng" w="9525">
            <a:solidFill>
              <a:srgbClr val="E5D8C3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EF9F1"/>
        </a:solidFill>
      </p:bgPr>
    </p:bg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2"/>
          <p:cNvSpPr txBox="1"/>
          <p:nvPr/>
        </p:nvSpPr>
        <p:spPr>
          <a:xfrm>
            <a:off x="533400" y="470452"/>
            <a:ext cx="6381900" cy="2286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8F3645"/>
                </a:solidFill>
                <a:latin typeface="Calibri"/>
                <a:ea typeface="Calibri"/>
                <a:cs typeface="Calibri"/>
                <a:sym typeface="Calibri"/>
              </a:rPr>
              <a:t>THE PROBLEM</a:t>
            </a:r>
            <a:endParaRPr b="1" i="0" sz="1600" u="none" cap="none" strike="noStrike">
              <a:solidFill>
                <a:srgbClr val="8F364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p2"/>
          <p:cNvSpPr txBox="1"/>
          <p:nvPr/>
        </p:nvSpPr>
        <p:spPr>
          <a:xfrm>
            <a:off x="533400" y="777461"/>
            <a:ext cx="11049000" cy="4572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i="0" lang="en-US" sz="3000" u="none" cap="none" strike="noStrike">
                <a:solidFill>
                  <a:srgbClr val="2D181C"/>
                </a:solidFill>
                <a:latin typeface="Cambria"/>
                <a:ea typeface="Cambria"/>
                <a:cs typeface="Cambria"/>
                <a:sym typeface="Cambria"/>
              </a:rPr>
              <a:t>When the default warehouse can't finish the order?</a:t>
            </a:r>
            <a:endParaRPr b="1" i="0" sz="3000" u="none" cap="none" strike="noStrike">
              <a:solidFill>
                <a:srgbClr val="2D181C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40" name="Google Shape;40;p2"/>
          <p:cNvSpPr txBox="1"/>
          <p:nvPr/>
        </p:nvSpPr>
        <p:spPr>
          <a:xfrm>
            <a:off x="533400" y="1615937"/>
            <a:ext cx="6381900" cy="6477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4A2E33"/>
                </a:solidFill>
                <a:latin typeface="Calibri"/>
                <a:ea typeface="Calibri"/>
                <a:cs typeface="Calibri"/>
                <a:sym typeface="Calibri"/>
              </a:rPr>
              <a:t>A default DC runs short on inventory, dock slots, throughput or picking constraints. Each order must go to its default DC, one of two alternates, or stay unassigned - while every order competes for the same scarce capacity. </a:t>
            </a:r>
            <a:endParaRPr b="0" i="0" sz="1350" u="none" cap="none" strike="noStrike">
              <a:solidFill>
                <a:srgbClr val="4A2E3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" name="Google Shape;41;p2"/>
          <p:cNvSpPr/>
          <p:nvPr/>
        </p:nvSpPr>
        <p:spPr>
          <a:xfrm>
            <a:off x="533400" y="2444612"/>
            <a:ext cx="57300" cy="876300"/>
          </a:xfrm>
          <a:prstGeom prst="roundRect">
            <a:avLst>
              <a:gd fmla="val 50000" name="adj"/>
            </a:avLst>
          </a:prstGeom>
          <a:solidFill>
            <a:srgbClr val="8F3645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" name="Google Shape;42;p2"/>
          <p:cNvSpPr/>
          <p:nvPr/>
        </p:nvSpPr>
        <p:spPr>
          <a:xfrm>
            <a:off x="533400" y="2444612"/>
            <a:ext cx="6381900" cy="876300"/>
          </a:xfrm>
          <a:prstGeom prst="roundRect">
            <a:avLst>
              <a:gd fmla="val 10869" name="adj"/>
            </a:avLst>
          </a:prstGeom>
          <a:solidFill>
            <a:srgbClr val="F6EAD5"/>
          </a:solidFill>
          <a:ln cap="flat" cmpd="sng" w="14300">
            <a:solidFill>
              <a:srgbClr val="E0C9A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" name="Google Shape;43;p2"/>
          <p:cNvSpPr txBox="1"/>
          <p:nvPr/>
        </p:nvSpPr>
        <p:spPr>
          <a:xfrm>
            <a:off x="742950" y="2558912"/>
            <a:ext cx="2857500" cy="190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None/>
            </a:pPr>
            <a:r>
              <a:rPr b="1" i="0" lang="en-US" sz="1250" u="none" cap="none" strike="noStrike">
                <a:solidFill>
                  <a:srgbClr val="8F3645"/>
                </a:solidFill>
                <a:latin typeface="Calibri"/>
                <a:ea typeface="Calibri"/>
                <a:cs typeface="Calibri"/>
                <a:sym typeface="Calibri"/>
              </a:rPr>
              <a:t>GLOBAL OBJECTIVE FUNCTION</a:t>
            </a:r>
            <a:endParaRPr b="1" i="0" sz="1250" u="none" cap="none" strike="noStrike">
              <a:solidFill>
                <a:srgbClr val="8F364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44;p2"/>
          <p:cNvSpPr txBox="1"/>
          <p:nvPr/>
        </p:nvSpPr>
        <p:spPr>
          <a:xfrm>
            <a:off x="742950" y="2758937"/>
            <a:ext cx="6000900" cy="4572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50"/>
              <a:buFont typeface="Arial"/>
              <a:buNone/>
            </a:pPr>
            <a:r>
              <a:rPr b="1" i="0" lang="en-US" sz="1550" u="none" cap="none" strike="noStrike">
                <a:solidFill>
                  <a:srgbClr val="2D181C"/>
                </a:solidFill>
                <a:latin typeface="Cambria"/>
                <a:ea typeface="Cambria"/>
                <a:cs typeface="Cambria"/>
                <a:sym typeface="Cambria"/>
              </a:rPr>
              <a:t>Maximise (Revenue - Penalty - Shipping) across every open order</a:t>
            </a:r>
            <a:endParaRPr b="1" i="0" sz="1550" u="none" cap="none" strike="noStrike">
              <a:solidFill>
                <a:srgbClr val="2D181C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45" name="Google Shape;45;p2"/>
          <p:cNvSpPr txBox="1"/>
          <p:nvPr/>
        </p:nvSpPr>
        <p:spPr>
          <a:xfrm>
            <a:off x="533400" y="3724137"/>
            <a:ext cx="6381900" cy="2097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None/>
            </a:pPr>
            <a:r>
              <a:rPr b="1" i="0" lang="en-US" sz="1250" u="none" cap="none" strike="noStrike">
                <a:solidFill>
                  <a:srgbClr val="7A585E"/>
                </a:solidFill>
                <a:latin typeface="Calibri"/>
                <a:ea typeface="Calibri"/>
                <a:cs typeface="Calibri"/>
                <a:sym typeface="Calibri"/>
              </a:rPr>
              <a:t>WHY IT IS COMBINATORIAL</a:t>
            </a:r>
            <a:endParaRPr b="1" i="0" sz="1250" u="none" cap="none" strike="noStrike">
              <a:solidFill>
                <a:srgbClr val="7A585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" name="Google Shape;46;p2"/>
          <p:cNvSpPr/>
          <p:nvPr/>
        </p:nvSpPr>
        <p:spPr>
          <a:xfrm>
            <a:off x="584910" y="4023360"/>
            <a:ext cx="1783080" cy="1783080"/>
          </a:xfrm>
          <a:prstGeom prst="ellipse">
            <a:avLst/>
          </a:prstGeom>
          <a:solidFill>
            <a:srgbClr val="FFFFFF"/>
          </a:solidFill>
          <a:ln cap="flat" cmpd="sng" w="14300">
            <a:solidFill>
              <a:srgbClr val="E8DCC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" name="Google Shape;47;p2"/>
          <p:cNvSpPr txBox="1"/>
          <p:nvPr/>
        </p:nvSpPr>
        <p:spPr>
          <a:xfrm>
            <a:off x="685800" y="4261104"/>
            <a:ext cx="1581300" cy="2097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7A585E"/>
                </a:solidFill>
                <a:latin typeface="Calibri"/>
                <a:ea typeface="Calibri"/>
                <a:cs typeface="Calibri"/>
                <a:sym typeface="Calibri"/>
              </a:rPr>
              <a:t>5 orders</a:t>
            </a:r>
            <a:endParaRPr b="1" i="0" sz="1100" u="none" cap="none" strike="noStrike">
              <a:solidFill>
                <a:srgbClr val="7A585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" name="Google Shape;48;p2"/>
          <p:cNvSpPr txBox="1"/>
          <p:nvPr/>
        </p:nvSpPr>
        <p:spPr>
          <a:xfrm>
            <a:off x="685800" y="4544568"/>
            <a:ext cx="1581300" cy="4953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2D181C"/>
                </a:solidFill>
                <a:latin typeface="Cambria"/>
                <a:ea typeface="Cambria"/>
                <a:cs typeface="Cambria"/>
                <a:sym typeface="Cambria"/>
              </a:rPr>
              <a:t>1,024</a:t>
            </a:r>
            <a:endParaRPr b="1" i="0" sz="2800" u="none" cap="none" strike="noStrike">
              <a:solidFill>
                <a:srgbClr val="2D181C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49" name="Google Shape;49;p2"/>
          <p:cNvSpPr txBox="1"/>
          <p:nvPr/>
        </p:nvSpPr>
        <p:spPr>
          <a:xfrm>
            <a:off x="685800" y="5138928"/>
            <a:ext cx="1581300" cy="4383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5A3C41"/>
                </a:solidFill>
                <a:latin typeface="Calibri"/>
                <a:ea typeface="Calibri"/>
                <a:cs typeface="Calibri"/>
                <a:sym typeface="Calibri"/>
              </a:rPr>
              <a:t>brute force is tractable</a:t>
            </a:r>
            <a:endParaRPr b="0" i="0" sz="1100" u="none" cap="none" strike="noStrike">
              <a:solidFill>
                <a:srgbClr val="5A3C4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2"/>
          <p:cNvSpPr txBox="1"/>
          <p:nvPr/>
        </p:nvSpPr>
        <p:spPr>
          <a:xfrm>
            <a:off x="2476500" y="4773168"/>
            <a:ext cx="247800" cy="2859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8F3645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1" i="0" sz="1800" u="none" cap="none" strike="noStrike">
              <a:solidFill>
                <a:srgbClr val="8F364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51;p2"/>
          <p:cNvSpPr/>
          <p:nvPr/>
        </p:nvSpPr>
        <p:spPr>
          <a:xfrm>
            <a:off x="2832809" y="4023360"/>
            <a:ext cx="1783080" cy="1783080"/>
          </a:xfrm>
          <a:prstGeom prst="ellipse">
            <a:avLst/>
          </a:prstGeom>
          <a:solidFill>
            <a:srgbClr val="FFFFFF"/>
          </a:solidFill>
          <a:ln cap="flat" cmpd="sng" w="14300">
            <a:solidFill>
              <a:srgbClr val="E8DCC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" name="Google Shape;52;p2"/>
          <p:cNvSpPr txBox="1"/>
          <p:nvPr/>
        </p:nvSpPr>
        <p:spPr>
          <a:xfrm>
            <a:off x="2933700" y="4261104"/>
            <a:ext cx="1581300" cy="2097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7A585E"/>
                </a:solidFill>
                <a:latin typeface="Calibri"/>
                <a:ea typeface="Calibri"/>
                <a:cs typeface="Calibri"/>
                <a:sym typeface="Calibri"/>
              </a:rPr>
              <a:t>25 orders</a:t>
            </a:r>
            <a:endParaRPr b="1" i="0" sz="1100" u="none" cap="none" strike="noStrike">
              <a:solidFill>
                <a:srgbClr val="7A585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53;p2"/>
          <p:cNvSpPr txBox="1"/>
          <p:nvPr/>
        </p:nvSpPr>
        <p:spPr>
          <a:xfrm>
            <a:off x="2933700" y="4544568"/>
            <a:ext cx="1581300" cy="4953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2D181C"/>
                </a:solidFill>
                <a:latin typeface="Cambria"/>
                <a:ea typeface="Cambria"/>
                <a:cs typeface="Cambria"/>
                <a:sym typeface="Cambria"/>
              </a:rPr>
              <a:t>10¹⁵</a:t>
            </a:r>
            <a:endParaRPr b="1" i="0" sz="2800" u="none" cap="none" strike="noStrike">
              <a:solidFill>
                <a:srgbClr val="2D181C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54" name="Google Shape;54;p2"/>
          <p:cNvSpPr txBox="1"/>
          <p:nvPr/>
        </p:nvSpPr>
        <p:spPr>
          <a:xfrm>
            <a:off x="2933700" y="5138928"/>
            <a:ext cx="1581300" cy="4383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5A3C41"/>
                </a:solidFill>
                <a:latin typeface="Calibri"/>
                <a:ea typeface="Calibri"/>
                <a:cs typeface="Calibri"/>
                <a:sym typeface="Calibri"/>
              </a:rPr>
              <a:t>exhaustive search fails</a:t>
            </a:r>
            <a:endParaRPr b="0" i="0" sz="1100" u="none" cap="none" strike="noStrike">
              <a:solidFill>
                <a:srgbClr val="5A3C4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2"/>
          <p:cNvSpPr txBox="1"/>
          <p:nvPr/>
        </p:nvSpPr>
        <p:spPr>
          <a:xfrm>
            <a:off x="4724400" y="4773168"/>
            <a:ext cx="247800" cy="2859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8F3645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1" i="0" sz="1800" u="none" cap="none" strike="noStrike">
              <a:solidFill>
                <a:srgbClr val="8F364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2"/>
          <p:cNvSpPr/>
          <p:nvPr/>
        </p:nvSpPr>
        <p:spPr>
          <a:xfrm>
            <a:off x="5080710" y="4023360"/>
            <a:ext cx="1783080" cy="1783080"/>
          </a:xfrm>
          <a:prstGeom prst="ellipse">
            <a:avLst/>
          </a:prstGeom>
          <a:solidFill>
            <a:srgbClr val="F1DEC4"/>
          </a:solidFill>
          <a:ln cap="flat" cmpd="sng" w="14300">
            <a:solidFill>
              <a:srgbClr val="D9BE9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" name="Google Shape;57;p2"/>
          <p:cNvSpPr txBox="1"/>
          <p:nvPr/>
        </p:nvSpPr>
        <p:spPr>
          <a:xfrm>
            <a:off x="5181600" y="4261104"/>
            <a:ext cx="1581300" cy="2097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8F3645"/>
                </a:solidFill>
                <a:latin typeface="Calibri"/>
                <a:ea typeface="Calibri"/>
                <a:cs typeface="Calibri"/>
                <a:sym typeface="Calibri"/>
              </a:rPr>
              <a:t>82 orders</a:t>
            </a:r>
            <a:endParaRPr b="1" i="0" sz="1100" u="none" cap="none" strike="noStrike">
              <a:solidFill>
                <a:srgbClr val="8F364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2"/>
          <p:cNvSpPr txBox="1"/>
          <p:nvPr/>
        </p:nvSpPr>
        <p:spPr>
          <a:xfrm>
            <a:off x="5181600" y="4544568"/>
            <a:ext cx="1581300" cy="4953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8F3645"/>
                </a:solidFill>
                <a:latin typeface="Cambria"/>
                <a:ea typeface="Cambria"/>
                <a:cs typeface="Cambria"/>
                <a:sym typeface="Cambria"/>
              </a:rPr>
              <a:t>astronomical</a:t>
            </a:r>
            <a:endParaRPr b="1" i="0" sz="2000" u="none" cap="none" strike="noStrike">
              <a:solidFill>
                <a:srgbClr val="8F3645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59" name="Google Shape;59;p2"/>
          <p:cNvSpPr txBox="1"/>
          <p:nvPr/>
        </p:nvSpPr>
        <p:spPr>
          <a:xfrm>
            <a:off x="5181600" y="5138928"/>
            <a:ext cx="1581300" cy="4383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5A3C41"/>
                </a:solidFill>
                <a:latin typeface="Calibri"/>
                <a:ea typeface="Calibri"/>
                <a:cs typeface="Calibri"/>
                <a:sym typeface="Calibri"/>
              </a:rPr>
              <a:t>a real focus-order window</a:t>
            </a:r>
            <a:endParaRPr b="0" i="0" sz="1100" u="none" cap="none" strike="noStrike">
              <a:solidFill>
                <a:srgbClr val="5A3C4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2"/>
          <p:cNvSpPr/>
          <p:nvPr/>
        </p:nvSpPr>
        <p:spPr>
          <a:xfrm>
            <a:off x="7239000" y="1476237"/>
            <a:ext cx="4419600" cy="4680000"/>
          </a:xfrm>
          <a:prstGeom prst="roundRect">
            <a:avLst>
              <a:gd fmla="val 3017" name="adj"/>
            </a:avLst>
          </a:prstGeom>
          <a:solidFill>
            <a:srgbClr val="2D181C"/>
          </a:solidFill>
          <a:ln cap="flat" cmpd="sng" w="14300">
            <a:solidFill>
              <a:srgbClr val="4A2E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" name="Google Shape;61;p2"/>
          <p:cNvSpPr txBox="1"/>
          <p:nvPr/>
        </p:nvSpPr>
        <p:spPr>
          <a:xfrm>
            <a:off x="7505700" y="1615937"/>
            <a:ext cx="3886200" cy="2286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E08A98"/>
                </a:solidFill>
                <a:latin typeface="Calibri"/>
                <a:ea typeface="Calibri"/>
                <a:cs typeface="Calibri"/>
                <a:sym typeface="Calibri"/>
              </a:rPr>
              <a:t>TWO DATA TRAPS WE CAUGHT</a:t>
            </a:r>
            <a:endParaRPr b="1" i="0" sz="1300" u="none" cap="none" strike="noStrike">
              <a:solidFill>
                <a:srgbClr val="E08A9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2"/>
          <p:cNvSpPr txBox="1"/>
          <p:nvPr/>
        </p:nvSpPr>
        <p:spPr>
          <a:xfrm>
            <a:off x="7505700" y="1958837"/>
            <a:ext cx="3886200" cy="3048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1" i="0" lang="en-US" sz="1350" u="none" cap="none" strike="noStrike">
                <a:solidFill>
                  <a:srgbClr val="FEF9F1"/>
                </a:solidFill>
                <a:latin typeface="Cambria"/>
                <a:ea typeface="Cambria"/>
                <a:cs typeface="Cambria"/>
                <a:sym typeface="Cambria"/>
              </a:rPr>
              <a:t>Revenue is a line total, not a per-case price</a:t>
            </a:r>
            <a:endParaRPr b="1" i="0" sz="1350" u="none" cap="none" strike="noStrike">
              <a:solidFill>
                <a:srgbClr val="FEF9F1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63" name="Google Shape;63;p2"/>
          <p:cNvSpPr txBox="1"/>
          <p:nvPr/>
        </p:nvSpPr>
        <p:spPr>
          <a:xfrm>
            <a:off x="7505700" y="2333487"/>
            <a:ext cx="3886200" cy="12858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D8B7BC"/>
                </a:solidFill>
                <a:latin typeface="Calibri"/>
                <a:ea typeface="Calibri"/>
                <a:cs typeface="Calibri"/>
                <a:sym typeface="Calibri"/>
              </a:rPr>
              <a:t>Input data provides total order line value. Multiplying by shipped cases artificially inflates the objective function by ~10× across solvers.</a:t>
            </a:r>
            <a:endParaRPr b="0" i="0" sz="1150" u="none" cap="none" strike="noStrike">
              <a:solidFill>
                <a:srgbClr val="D8B7BC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1" i="0" lang="en-US" sz="1100" u="none" cap="none" strike="noStrike">
                <a:solidFill>
                  <a:srgbClr val="E68E9D"/>
                </a:solidFill>
                <a:highlight>
                  <a:srgbClr val="462B30"/>
                </a:highlight>
                <a:latin typeface="Calibri"/>
                <a:ea typeface="Calibri"/>
                <a:cs typeface="Calibri"/>
                <a:sym typeface="Calibri"/>
              </a:rPr>
              <a:t>Fix:</a:t>
            </a:r>
            <a:r>
              <a:rPr b="0" i="0" lang="en-US" sz="1100" u="none" cap="none" strike="noStrike">
                <a:solidFill>
                  <a:srgbClr val="FEF9F1"/>
                </a:solidFill>
                <a:highlight>
                  <a:srgbClr val="462B30"/>
                </a:highlight>
                <a:latin typeface="Calibri"/>
                <a:ea typeface="Calibri"/>
                <a:cs typeface="Calibri"/>
                <a:sym typeface="Calibri"/>
              </a:rPr>
              <a:t> Normalized revenue by ordered quantity to derive exact per-case value prior to solver ingestion.</a:t>
            </a:r>
            <a:endParaRPr b="0" i="0" sz="1100" u="none" cap="none" strike="noStrike">
              <a:solidFill>
                <a:srgbClr val="FEF9F1"/>
              </a:solidFill>
              <a:highlight>
                <a:srgbClr val="462B30"/>
              </a:highlight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64" name="Google Shape;64;p2"/>
          <p:cNvCxnSpPr/>
          <p:nvPr/>
        </p:nvCxnSpPr>
        <p:spPr>
          <a:xfrm>
            <a:off x="7505700" y="3730487"/>
            <a:ext cx="3886200" cy="0"/>
          </a:xfrm>
          <a:prstGeom prst="straightConnector1">
            <a:avLst/>
          </a:prstGeom>
          <a:solidFill>
            <a:srgbClr val="FFFFFF"/>
          </a:solidFill>
          <a:ln cap="flat" cmpd="sng" w="14300">
            <a:solidFill>
              <a:srgbClr val="4A2E33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5" name="Google Shape;65;p2"/>
          <p:cNvSpPr txBox="1"/>
          <p:nvPr/>
        </p:nvSpPr>
        <p:spPr>
          <a:xfrm>
            <a:off x="7505700" y="3984487"/>
            <a:ext cx="3886200" cy="3048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1" i="0" lang="en-US" sz="1350" u="none" cap="none" strike="noStrike">
                <a:solidFill>
                  <a:srgbClr val="FEF9F1"/>
                </a:solidFill>
                <a:latin typeface="Cambria"/>
                <a:ea typeface="Cambria"/>
                <a:cs typeface="Cambria"/>
                <a:sym typeface="Cambria"/>
              </a:rPr>
              <a:t>Planner history is 99.7% Default Bias</a:t>
            </a:r>
            <a:endParaRPr b="1" i="0" sz="1350" u="none" cap="none" strike="noStrike">
              <a:solidFill>
                <a:srgbClr val="FEF9F1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66" name="Google Shape;66;p2"/>
          <p:cNvSpPr txBox="1"/>
          <p:nvPr/>
        </p:nvSpPr>
        <p:spPr>
          <a:xfrm>
            <a:off x="7505700" y="4397237"/>
            <a:ext cx="3886200" cy="1714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D8B7BC"/>
                </a:solidFill>
                <a:latin typeface="Calibri"/>
                <a:ea typeface="Calibri"/>
                <a:cs typeface="Calibri"/>
                <a:sym typeface="Calibri"/>
              </a:rPr>
              <a:t>Historical log contains 1,106 default assignments and only 3 diversions. A "never-divert" baseline scores 99.7% agreement while optimal diversions receive F1 = 0.</a:t>
            </a:r>
            <a:endParaRPr b="0" i="0" sz="1150" u="none" cap="none" strike="noStrike">
              <a:solidFill>
                <a:srgbClr val="D8B7BC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1" i="0" lang="en-US" sz="1100" u="none" cap="none" strike="noStrike">
                <a:solidFill>
                  <a:srgbClr val="E68E9D"/>
                </a:solidFill>
                <a:highlight>
                  <a:srgbClr val="462B30"/>
                </a:highlight>
                <a:latin typeface="Calibri"/>
                <a:ea typeface="Calibri"/>
                <a:cs typeface="Calibri"/>
                <a:sym typeface="Calibri"/>
              </a:rPr>
              <a:t>Fix:</a:t>
            </a:r>
            <a:r>
              <a:rPr b="0" i="0" lang="en-US" sz="1100" u="none" cap="none" strike="noStrike">
                <a:solidFill>
                  <a:srgbClr val="FEF9F1"/>
                </a:solidFill>
                <a:highlight>
                  <a:srgbClr val="462B30"/>
                </a:highlight>
                <a:latin typeface="Calibri"/>
                <a:ea typeface="Calibri"/>
                <a:cs typeface="Calibri"/>
                <a:sym typeface="Calibri"/>
              </a:rPr>
              <a:t> Benchmarked all solvers against an exhaustive 1,024-combination certified brute-force optimum.</a:t>
            </a:r>
            <a:endParaRPr b="0" i="0" sz="1100" u="none" cap="none" strike="noStrike">
              <a:solidFill>
                <a:srgbClr val="FEF9F1"/>
              </a:solidFill>
              <a:highlight>
                <a:srgbClr val="462B30"/>
              </a:highlight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2"/>
          <p:cNvSpPr txBox="1"/>
          <p:nvPr/>
        </p:nvSpPr>
        <p:spPr>
          <a:xfrm>
            <a:off x="533400" y="6334125"/>
            <a:ext cx="6400800" cy="2286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7A585E"/>
                </a:solidFill>
                <a:latin typeface="Calibri"/>
                <a:ea typeface="Calibri"/>
                <a:cs typeface="Calibri"/>
                <a:sym typeface="Calibri"/>
              </a:rPr>
              <a:t>Nestlé × WISER 2026  · The Convergents</a:t>
            </a:r>
            <a:endParaRPr b="0" i="0" sz="1000" u="none" cap="none" strike="noStrike">
              <a:solidFill>
                <a:srgbClr val="7A585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2"/>
          <p:cNvSpPr txBox="1"/>
          <p:nvPr/>
        </p:nvSpPr>
        <p:spPr>
          <a:xfrm>
            <a:off x="11201400" y="6334125"/>
            <a:ext cx="457200" cy="2286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7A585E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000" u="none" cap="none" strike="noStrike">
              <a:solidFill>
                <a:srgbClr val="7A585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EF9F1"/>
        </a:solidFill>
      </p:bgPr>
    </p:bg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3fbac02e886_1_1997"/>
          <p:cNvSpPr txBox="1"/>
          <p:nvPr/>
        </p:nvSpPr>
        <p:spPr>
          <a:xfrm>
            <a:off x="533400" y="325708"/>
            <a:ext cx="11125200" cy="20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D181C"/>
              </a:buClr>
              <a:buSzPts val="1700"/>
              <a:buFont typeface="Arial"/>
              <a:buNone/>
            </a:pPr>
            <a:r>
              <a:rPr b="1" i="0" lang="en-US" sz="1600" u="none" cap="none" strike="noStrike">
                <a:solidFill>
                  <a:srgbClr val="8F3645"/>
                </a:solidFill>
                <a:latin typeface="Calibri"/>
                <a:ea typeface="Calibri"/>
                <a:cs typeface="Calibri"/>
                <a:sym typeface="Calibri"/>
              </a:rPr>
              <a:t>OUR APPROACH · PIPELINE</a:t>
            </a:r>
            <a:endParaRPr b="1" i="0" sz="1600" u="none" cap="none" strike="noStrike">
              <a:solidFill>
                <a:srgbClr val="8F364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g3fbac02e886_1_1997"/>
          <p:cNvSpPr txBox="1"/>
          <p:nvPr/>
        </p:nvSpPr>
        <p:spPr>
          <a:xfrm>
            <a:off x="533400" y="639105"/>
            <a:ext cx="11125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D181C"/>
              </a:buClr>
              <a:buSzPts val="3000"/>
              <a:buFont typeface="Arial"/>
              <a:buNone/>
            </a:pPr>
            <a:r>
              <a:rPr b="1" i="0" lang="en-US" sz="3000" u="none" cap="none" strike="noStrike">
                <a:solidFill>
                  <a:srgbClr val="2D181C"/>
                </a:solidFill>
                <a:latin typeface="Cambria"/>
                <a:ea typeface="Cambria"/>
                <a:cs typeface="Cambria"/>
                <a:sym typeface="Cambria"/>
              </a:rPr>
              <a:t>Hybrid Architecture : Two solvers, one ground truth</a:t>
            </a:r>
            <a:endParaRPr b="1" i="0" sz="3000" u="none" cap="none" strike="noStrike">
              <a:solidFill>
                <a:srgbClr val="2D181C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grpSp>
        <p:nvGrpSpPr>
          <p:cNvPr id="76" name="Google Shape;76;g3fbac02e886_1_1997"/>
          <p:cNvGrpSpPr/>
          <p:nvPr/>
        </p:nvGrpSpPr>
        <p:grpSpPr>
          <a:xfrm>
            <a:off x="533400" y="6362700"/>
            <a:ext cx="11125200" cy="228600"/>
            <a:chOff x="0" y="0"/>
            <a:chExt cx="11125200" cy="228600"/>
          </a:xfrm>
        </p:grpSpPr>
        <p:sp>
          <p:nvSpPr>
            <p:cNvPr id="77" name="Google Shape;77;g3fbac02e886_1_1997"/>
            <p:cNvSpPr txBox="1"/>
            <p:nvPr/>
          </p:nvSpPr>
          <p:spPr>
            <a:xfrm>
              <a:off x="0" y="0"/>
              <a:ext cx="6400800" cy="22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2D181C"/>
                </a:buClr>
                <a:buSzPts val="1000"/>
                <a:buFont typeface="Arial"/>
                <a:buNone/>
              </a:pPr>
              <a:r>
                <a:rPr b="0" i="0" lang="en-US" sz="1000" u="none" cap="none" strike="noStrike">
                  <a:solidFill>
                    <a:srgbClr val="7A585E"/>
                  </a:solidFill>
                  <a:latin typeface="Calibri"/>
                  <a:ea typeface="Calibri"/>
                  <a:cs typeface="Calibri"/>
                  <a:sym typeface="Calibri"/>
                </a:rPr>
                <a:t>Nestlé × WISER 2026 · The Convergents</a:t>
              </a:r>
              <a:endParaRPr b="0" i="0" sz="1000" u="none" cap="none" strike="noStrike">
                <a:solidFill>
                  <a:srgbClr val="7A585E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8" name="Google Shape;78;g3fbac02e886_1_1997"/>
            <p:cNvSpPr txBox="1"/>
            <p:nvPr/>
          </p:nvSpPr>
          <p:spPr>
            <a:xfrm>
              <a:off x="10668000" y="0"/>
              <a:ext cx="457200" cy="22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2D181C"/>
                </a:buClr>
                <a:buSzPts val="1000"/>
                <a:buFont typeface="Arial"/>
                <a:buNone/>
              </a:pPr>
              <a:r>
                <a:rPr b="0" i="0" lang="en-US" sz="1000" u="none" cap="none" strike="noStrike">
                  <a:solidFill>
                    <a:srgbClr val="7A585E"/>
                  </a:solidFill>
                  <a:latin typeface="Calibri"/>
                  <a:ea typeface="Calibri"/>
                  <a:cs typeface="Calibri"/>
                  <a:sym typeface="Calibri"/>
                </a:rPr>
                <a:t>3</a:t>
              </a:r>
              <a:endParaRPr b="0" i="0" sz="1000" u="none" cap="none" strike="noStrike">
                <a:solidFill>
                  <a:srgbClr val="7A585E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79" name="Google Shape;79;g3fbac02e886_1_1997"/>
          <p:cNvSpPr/>
          <p:nvPr/>
        </p:nvSpPr>
        <p:spPr>
          <a:xfrm>
            <a:off x="533400" y="1248780"/>
            <a:ext cx="2150100" cy="4950000"/>
          </a:xfrm>
          <a:prstGeom prst="roundRect">
            <a:avLst>
              <a:gd fmla="val 3351" name="adj"/>
            </a:avLst>
          </a:prstGeom>
          <a:solidFill>
            <a:srgbClr val="FFFFFF"/>
          </a:solidFill>
          <a:ln cap="flat" cmpd="sng" w="9525">
            <a:solidFill>
              <a:srgbClr val="E8DCC8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t" dir="5400000" dist="19050">
              <a:srgbClr val="0F172A">
                <a:alpha val="9020"/>
              </a:srgbClr>
            </a:outerShdw>
          </a:effectLst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2D181C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" name="Google Shape;80;g3fbac02e886_1_1997"/>
          <p:cNvSpPr/>
          <p:nvPr/>
        </p:nvSpPr>
        <p:spPr>
          <a:xfrm>
            <a:off x="9473400" y="1248780"/>
            <a:ext cx="2185200" cy="4950000"/>
          </a:xfrm>
          <a:prstGeom prst="roundRect">
            <a:avLst>
              <a:gd fmla="val 3351" name="adj"/>
            </a:avLst>
          </a:prstGeom>
          <a:solidFill>
            <a:srgbClr val="2D181C"/>
          </a:solidFill>
          <a:ln>
            <a:noFill/>
          </a:ln>
          <a:effectLst>
            <a:outerShdw blurRad="76200" rotWithShape="0" algn="t" dir="5400000" dist="19050">
              <a:srgbClr val="0F172A">
                <a:alpha val="9020"/>
              </a:srgbClr>
            </a:outerShdw>
          </a:effectLst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FEF9F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" name="Google Shape;81;g3fbac02e886_1_1997"/>
          <p:cNvSpPr txBox="1"/>
          <p:nvPr/>
        </p:nvSpPr>
        <p:spPr>
          <a:xfrm>
            <a:off x="733400" y="1468780"/>
            <a:ext cx="1749900" cy="9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D181C"/>
              </a:buClr>
              <a:buSzPts val="1100"/>
              <a:buFont typeface="Arial"/>
              <a:buNone/>
            </a:pPr>
            <a:r>
              <a:rPr b="1" i="0" lang="en-US" sz="1200" u="none" cap="none" strike="noStrike">
                <a:solidFill>
                  <a:srgbClr val="8F3645"/>
                </a:solidFill>
                <a:latin typeface="Calibri"/>
                <a:ea typeface="Calibri"/>
                <a:cs typeface="Calibri"/>
                <a:sym typeface="Calibri"/>
              </a:rPr>
              <a:t>STEP 1: FORMULATION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2D181C"/>
              </a:buClr>
              <a:buSzPts val="1700"/>
              <a:buFont typeface="Arial"/>
              <a:buNone/>
            </a:pPr>
            <a:r>
              <a:rPr b="1" i="0" lang="en-US" sz="1700" u="none" cap="none" strike="noStrike">
                <a:solidFill>
                  <a:srgbClr val="2D181C"/>
                </a:solidFill>
                <a:latin typeface="Cambria"/>
                <a:ea typeface="Cambria"/>
                <a:cs typeface="Cambria"/>
                <a:sym typeface="Cambria"/>
              </a:rPr>
              <a:t>Decision Matrix Formulation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" name="Google Shape;82;g3fbac02e886_1_1997"/>
          <p:cNvSpPr/>
          <p:nvPr/>
        </p:nvSpPr>
        <p:spPr>
          <a:xfrm>
            <a:off x="733400" y="2498780"/>
            <a:ext cx="249900" cy="249900"/>
          </a:xfrm>
          <a:prstGeom prst="ellipse">
            <a:avLst/>
          </a:prstGeom>
          <a:solidFill>
            <a:srgbClr val="8F3645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2D181C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" name="Google Shape;83;g3fbac02e886_1_1997"/>
          <p:cNvSpPr/>
          <p:nvPr/>
        </p:nvSpPr>
        <p:spPr>
          <a:xfrm>
            <a:off x="1043400" y="2498780"/>
            <a:ext cx="249900" cy="249900"/>
          </a:xfrm>
          <a:prstGeom prst="ellipse">
            <a:avLst/>
          </a:prstGeom>
          <a:solidFill>
            <a:srgbClr val="E8DCC8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2D181C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" name="Google Shape;84;g3fbac02e886_1_1997"/>
          <p:cNvSpPr/>
          <p:nvPr/>
        </p:nvSpPr>
        <p:spPr>
          <a:xfrm>
            <a:off x="1353400" y="2498780"/>
            <a:ext cx="249900" cy="249900"/>
          </a:xfrm>
          <a:prstGeom prst="ellipse">
            <a:avLst/>
          </a:prstGeom>
          <a:solidFill>
            <a:srgbClr val="E8DCC8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2D181C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" name="Google Shape;85;g3fbac02e886_1_1997"/>
          <p:cNvSpPr/>
          <p:nvPr/>
        </p:nvSpPr>
        <p:spPr>
          <a:xfrm>
            <a:off x="1663400" y="2498780"/>
            <a:ext cx="249900" cy="249900"/>
          </a:xfrm>
          <a:prstGeom prst="ellipse">
            <a:avLst/>
          </a:prstGeom>
          <a:solidFill>
            <a:srgbClr val="E8DCC8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2D181C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" name="Google Shape;86;g3fbac02e886_1_1997"/>
          <p:cNvSpPr/>
          <p:nvPr/>
        </p:nvSpPr>
        <p:spPr>
          <a:xfrm>
            <a:off x="733400" y="2808780"/>
            <a:ext cx="249900" cy="249900"/>
          </a:xfrm>
          <a:prstGeom prst="ellipse">
            <a:avLst/>
          </a:prstGeom>
          <a:solidFill>
            <a:srgbClr val="E8DCC8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2D181C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" name="Google Shape;87;g3fbac02e886_1_1997"/>
          <p:cNvSpPr/>
          <p:nvPr/>
        </p:nvSpPr>
        <p:spPr>
          <a:xfrm>
            <a:off x="1043400" y="2808780"/>
            <a:ext cx="249900" cy="249900"/>
          </a:xfrm>
          <a:prstGeom prst="ellipse">
            <a:avLst/>
          </a:prstGeom>
          <a:solidFill>
            <a:srgbClr val="E8DCC8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2D181C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" name="Google Shape;88;g3fbac02e886_1_1997"/>
          <p:cNvSpPr/>
          <p:nvPr/>
        </p:nvSpPr>
        <p:spPr>
          <a:xfrm>
            <a:off x="1353400" y="2808780"/>
            <a:ext cx="249900" cy="249900"/>
          </a:xfrm>
          <a:prstGeom prst="ellipse">
            <a:avLst/>
          </a:prstGeom>
          <a:solidFill>
            <a:srgbClr val="8F3645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2D181C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" name="Google Shape;89;g3fbac02e886_1_1997"/>
          <p:cNvSpPr/>
          <p:nvPr/>
        </p:nvSpPr>
        <p:spPr>
          <a:xfrm>
            <a:off x="1663400" y="2808780"/>
            <a:ext cx="249900" cy="249900"/>
          </a:xfrm>
          <a:prstGeom prst="ellipse">
            <a:avLst/>
          </a:prstGeom>
          <a:solidFill>
            <a:srgbClr val="E8DCC8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2D181C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" name="Google Shape;90;g3fbac02e886_1_1997"/>
          <p:cNvSpPr/>
          <p:nvPr/>
        </p:nvSpPr>
        <p:spPr>
          <a:xfrm>
            <a:off x="733400" y="3118780"/>
            <a:ext cx="249900" cy="249900"/>
          </a:xfrm>
          <a:prstGeom prst="ellipse">
            <a:avLst/>
          </a:prstGeom>
          <a:solidFill>
            <a:srgbClr val="E8DCC8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2D181C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" name="Google Shape;91;g3fbac02e886_1_1997"/>
          <p:cNvSpPr/>
          <p:nvPr/>
        </p:nvSpPr>
        <p:spPr>
          <a:xfrm>
            <a:off x="1043400" y="3118780"/>
            <a:ext cx="249900" cy="249900"/>
          </a:xfrm>
          <a:prstGeom prst="ellipse">
            <a:avLst/>
          </a:prstGeom>
          <a:solidFill>
            <a:srgbClr val="8F3645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2D181C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" name="Google Shape;92;g3fbac02e886_1_1997"/>
          <p:cNvSpPr/>
          <p:nvPr/>
        </p:nvSpPr>
        <p:spPr>
          <a:xfrm>
            <a:off x="1353400" y="3118780"/>
            <a:ext cx="249900" cy="249900"/>
          </a:xfrm>
          <a:prstGeom prst="ellipse">
            <a:avLst/>
          </a:prstGeom>
          <a:solidFill>
            <a:srgbClr val="E8DCC8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2D181C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" name="Google Shape;93;g3fbac02e886_1_1997"/>
          <p:cNvSpPr/>
          <p:nvPr/>
        </p:nvSpPr>
        <p:spPr>
          <a:xfrm>
            <a:off x="1663400" y="3118780"/>
            <a:ext cx="249900" cy="249900"/>
          </a:xfrm>
          <a:prstGeom prst="ellipse">
            <a:avLst/>
          </a:prstGeom>
          <a:solidFill>
            <a:srgbClr val="E8DCC8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2D181C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" name="Google Shape;94;g3fbac02e886_1_1997"/>
          <p:cNvSpPr/>
          <p:nvPr/>
        </p:nvSpPr>
        <p:spPr>
          <a:xfrm>
            <a:off x="733400" y="3428780"/>
            <a:ext cx="249900" cy="249900"/>
          </a:xfrm>
          <a:prstGeom prst="ellipse">
            <a:avLst/>
          </a:prstGeom>
          <a:solidFill>
            <a:srgbClr val="E8DCC8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2D181C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" name="Google Shape;95;g3fbac02e886_1_1997"/>
          <p:cNvSpPr/>
          <p:nvPr/>
        </p:nvSpPr>
        <p:spPr>
          <a:xfrm>
            <a:off x="1043400" y="3428780"/>
            <a:ext cx="249900" cy="249900"/>
          </a:xfrm>
          <a:prstGeom prst="ellipse">
            <a:avLst/>
          </a:prstGeom>
          <a:solidFill>
            <a:srgbClr val="E8DCC8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2D181C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" name="Google Shape;96;g3fbac02e886_1_1997"/>
          <p:cNvSpPr/>
          <p:nvPr/>
        </p:nvSpPr>
        <p:spPr>
          <a:xfrm>
            <a:off x="1353400" y="3428780"/>
            <a:ext cx="249900" cy="249900"/>
          </a:xfrm>
          <a:prstGeom prst="ellipse">
            <a:avLst/>
          </a:prstGeom>
          <a:solidFill>
            <a:srgbClr val="E8DCC8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2D181C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" name="Google Shape;97;g3fbac02e886_1_1997"/>
          <p:cNvSpPr/>
          <p:nvPr/>
        </p:nvSpPr>
        <p:spPr>
          <a:xfrm>
            <a:off x="1663400" y="3428780"/>
            <a:ext cx="249900" cy="249900"/>
          </a:xfrm>
          <a:prstGeom prst="ellipse">
            <a:avLst/>
          </a:prstGeom>
          <a:solidFill>
            <a:srgbClr val="8F3645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2D181C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" name="Google Shape;98;g3fbac02e886_1_1997"/>
          <p:cNvSpPr/>
          <p:nvPr/>
        </p:nvSpPr>
        <p:spPr>
          <a:xfrm>
            <a:off x="733400" y="3738780"/>
            <a:ext cx="249900" cy="249900"/>
          </a:xfrm>
          <a:prstGeom prst="ellipse">
            <a:avLst/>
          </a:prstGeom>
          <a:solidFill>
            <a:srgbClr val="E8DCC8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2D181C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" name="Google Shape;99;g3fbac02e886_1_1997"/>
          <p:cNvSpPr/>
          <p:nvPr/>
        </p:nvSpPr>
        <p:spPr>
          <a:xfrm>
            <a:off x="1043400" y="3738780"/>
            <a:ext cx="249900" cy="249900"/>
          </a:xfrm>
          <a:prstGeom prst="ellipse">
            <a:avLst/>
          </a:prstGeom>
          <a:solidFill>
            <a:srgbClr val="E8DCC8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2D181C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" name="Google Shape;100;g3fbac02e886_1_1997"/>
          <p:cNvSpPr/>
          <p:nvPr/>
        </p:nvSpPr>
        <p:spPr>
          <a:xfrm>
            <a:off x="1353400" y="3738780"/>
            <a:ext cx="249900" cy="249900"/>
          </a:xfrm>
          <a:prstGeom prst="ellipse">
            <a:avLst/>
          </a:prstGeom>
          <a:solidFill>
            <a:srgbClr val="8F3645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2D181C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" name="Google Shape;101;g3fbac02e886_1_1997"/>
          <p:cNvSpPr/>
          <p:nvPr/>
        </p:nvSpPr>
        <p:spPr>
          <a:xfrm>
            <a:off x="1663400" y="3738780"/>
            <a:ext cx="249900" cy="249900"/>
          </a:xfrm>
          <a:prstGeom prst="ellipse">
            <a:avLst/>
          </a:prstGeom>
          <a:solidFill>
            <a:srgbClr val="E8DCC8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2D181C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" name="Google Shape;102;g3fbac02e886_1_1997"/>
          <p:cNvSpPr txBox="1"/>
          <p:nvPr/>
        </p:nvSpPr>
        <p:spPr>
          <a:xfrm>
            <a:off x="733400" y="4108780"/>
            <a:ext cx="1749900" cy="24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D181C"/>
              </a:buClr>
              <a:buSzPts val="1050"/>
              <a:buFont typeface="Arial"/>
              <a:buNone/>
            </a:pPr>
            <a:r>
              <a:rPr b="0" i="1" lang="en-US" sz="1050" u="none" cap="none" strike="noStrike">
                <a:solidFill>
                  <a:srgbClr val="7A585E"/>
                </a:solidFill>
                <a:latin typeface="Calibri"/>
                <a:ea typeface="Calibri"/>
                <a:cs typeface="Calibri"/>
                <a:sym typeface="Calibri"/>
              </a:rPr>
              <a:t>One column selected per order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" name="Google Shape;103;g3fbac02e886_1_1997"/>
          <p:cNvSpPr txBox="1"/>
          <p:nvPr/>
        </p:nvSpPr>
        <p:spPr>
          <a:xfrm>
            <a:off x="733400" y="4458780"/>
            <a:ext cx="1749900" cy="9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D181C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5A3C41"/>
                </a:solidFill>
                <a:latin typeface="Calibri"/>
                <a:ea typeface="Calibri"/>
                <a:cs typeface="Calibri"/>
                <a:sym typeface="Calibri"/>
              </a:rPr>
              <a:t>5 focus orders × 4 candidate columns = </a:t>
            </a:r>
            <a:r>
              <a:rPr b="1" i="0" lang="en-US" sz="1200" u="none" cap="none" strike="noStrike">
                <a:solidFill>
                  <a:srgbClr val="2D181C"/>
                </a:solidFill>
                <a:latin typeface="Calibri"/>
                <a:ea typeface="Calibri"/>
                <a:cs typeface="Calibri"/>
                <a:sym typeface="Calibri"/>
              </a:rPr>
              <a:t>20 binary decision variables.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" name="Google Shape;104;g3fbac02e886_1_1997"/>
          <p:cNvSpPr txBox="1"/>
          <p:nvPr/>
        </p:nvSpPr>
        <p:spPr>
          <a:xfrm>
            <a:off x="733400" y="5318780"/>
            <a:ext cx="1749900" cy="6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D181C"/>
              </a:buClr>
              <a:buSzPts val="1250"/>
              <a:buFont typeface="Arial"/>
              <a:buNone/>
            </a:pPr>
            <a:r>
              <a:rPr b="1" i="0" lang="en-US" sz="1250" u="none" cap="none" strike="noStrike">
                <a:solidFill>
                  <a:srgbClr val="2D181C"/>
                </a:solidFill>
                <a:latin typeface="Calibri"/>
                <a:ea typeface="Calibri"/>
                <a:cs typeface="Calibri"/>
                <a:sym typeface="Calibri"/>
              </a:rPr>
              <a:t>Identical objective fed to both solver arms.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" name="Google Shape;105;g3fbac02e886_1_1997"/>
          <p:cNvSpPr txBox="1"/>
          <p:nvPr/>
        </p:nvSpPr>
        <p:spPr>
          <a:xfrm>
            <a:off x="9673400" y="1468780"/>
            <a:ext cx="1785300" cy="9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9F1"/>
              </a:buClr>
              <a:buSzPts val="1100"/>
              <a:buFont typeface="Arial"/>
              <a:buNone/>
            </a:pPr>
            <a:r>
              <a:rPr b="1" i="0" lang="en-US" sz="1200" u="none" cap="none" strike="noStrike">
                <a:solidFill>
                  <a:srgbClr val="E08A98"/>
                </a:solidFill>
                <a:latin typeface="Calibri"/>
                <a:ea typeface="Calibri"/>
                <a:cs typeface="Calibri"/>
                <a:sym typeface="Calibri"/>
              </a:rPr>
              <a:t>STEP 3: EVALUATION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FEF9F1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FEF9F1"/>
                </a:solidFill>
                <a:latin typeface="Cambria"/>
                <a:ea typeface="Cambria"/>
                <a:cs typeface="Cambria"/>
                <a:sym typeface="Cambria"/>
              </a:rPr>
              <a:t>Ground Truth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g3fbac02e886_1_1997"/>
          <p:cNvSpPr txBox="1"/>
          <p:nvPr/>
        </p:nvSpPr>
        <p:spPr>
          <a:xfrm>
            <a:off x="9673400" y="2299032"/>
            <a:ext cx="1785300" cy="6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9F1"/>
              </a:buClr>
              <a:buSzPts val="3600"/>
              <a:buFont typeface="Arial"/>
              <a:buNone/>
            </a:pPr>
            <a:r>
              <a:rPr b="1" i="0" lang="en-US" sz="3600" u="none" cap="none" strike="noStrike">
                <a:solidFill>
                  <a:srgbClr val="E0C9A0"/>
                </a:solidFill>
                <a:latin typeface="Cambria"/>
                <a:ea typeface="Cambria"/>
                <a:cs typeface="Cambria"/>
                <a:sym typeface="Cambria"/>
              </a:rPr>
              <a:t>1,024</a:t>
            </a:r>
            <a:endParaRPr b="0" i="0" sz="1400" u="none" cap="none" strike="noStrike">
              <a:solidFill>
                <a:srgbClr val="E0C9A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" name="Google Shape;107;g3fbac02e886_1_1997"/>
          <p:cNvSpPr txBox="1"/>
          <p:nvPr/>
        </p:nvSpPr>
        <p:spPr>
          <a:xfrm>
            <a:off x="9673400" y="2978969"/>
            <a:ext cx="1785300" cy="11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9F1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EACCD1"/>
                </a:solidFill>
                <a:latin typeface="Calibri"/>
                <a:ea typeface="Calibri"/>
                <a:cs typeface="Calibri"/>
                <a:sym typeface="Calibri"/>
              </a:rPr>
              <a:t>Scored against a certified optimum derived from exhaustively evaluating all feasible assignments.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" name="Google Shape;108;g3fbac02e886_1_1997"/>
          <p:cNvSpPr txBox="1"/>
          <p:nvPr/>
        </p:nvSpPr>
        <p:spPr>
          <a:xfrm>
            <a:off x="9673400" y="4165551"/>
            <a:ext cx="1785300" cy="9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9F1"/>
              </a:buClr>
              <a:buSzPts val="1050"/>
              <a:buFont typeface="Arial"/>
              <a:buNone/>
            </a:pPr>
            <a:r>
              <a:rPr b="1" i="0" lang="en-US" sz="1150" u="none" cap="none" strike="noStrike">
                <a:solidFill>
                  <a:srgbClr val="E08A98"/>
                </a:solidFill>
                <a:latin typeface="Calibri"/>
                <a:ea typeface="Calibri"/>
                <a:cs typeface="Calibri"/>
                <a:sym typeface="Calibri"/>
              </a:rPr>
              <a:t>PLUS</a:t>
            </a:r>
            <a:endParaRPr b="0" i="0" sz="1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EF9F1"/>
              </a:buClr>
              <a:buSzPts val="1250"/>
              <a:buFont typeface="Arial"/>
              <a:buNone/>
            </a:pPr>
            <a:r>
              <a:rPr b="1" i="0" lang="en-US" sz="1250" u="none" cap="none" strike="noStrike">
                <a:solidFill>
                  <a:srgbClr val="FEF9F1"/>
                </a:solidFill>
                <a:latin typeface="Calibri"/>
                <a:ea typeface="Calibri"/>
                <a:cs typeface="Calibri"/>
                <a:sym typeface="Calibri"/>
              </a:rPr>
              <a:t>Baseline 1</a:t>
            </a:r>
            <a:br>
              <a:rPr b="0" i="0" lang="en-US" sz="1200" u="none" cap="none" strike="noStrike">
                <a:solidFill>
                  <a:srgbClr val="FEF9F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50" u="none" cap="none" strike="noStrike">
                <a:solidFill>
                  <a:srgbClr val="D8B7BC"/>
                </a:solidFill>
                <a:latin typeface="Calibri"/>
                <a:ea typeface="Calibri"/>
                <a:cs typeface="Calibri"/>
                <a:sym typeface="Calibri"/>
              </a:rPr>
              <a:t>strict default DC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FEF9F1"/>
              </a:buClr>
              <a:buSzPts val="1250"/>
              <a:buFont typeface="Arial"/>
              <a:buNone/>
            </a:pPr>
            <a:r>
              <a:rPr b="1" i="0" lang="en-US" sz="1250" u="none" cap="none" strike="noStrike">
                <a:solidFill>
                  <a:srgbClr val="FEF9F1"/>
                </a:solidFill>
                <a:latin typeface="Calibri"/>
                <a:ea typeface="Calibri"/>
                <a:cs typeface="Calibri"/>
                <a:sym typeface="Calibri"/>
              </a:rPr>
              <a:t>Baseline 2</a:t>
            </a:r>
            <a:br>
              <a:rPr b="0" i="0" lang="en-US" sz="1200" u="none" cap="none" strike="noStrike">
                <a:solidFill>
                  <a:srgbClr val="FEF9F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50" u="none" cap="none" strike="noStrike">
                <a:solidFill>
                  <a:srgbClr val="D8B7BC"/>
                </a:solidFill>
                <a:latin typeface="Calibri"/>
                <a:ea typeface="Calibri"/>
                <a:cs typeface="Calibri"/>
                <a:sym typeface="Calibri"/>
              </a:rPr>
              <a:t>greedy divert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" name="Google Shape;109;g3fbac02e886_1_1997"/>
          <p:cNvSpPr txBox="1"/>
          <p:nvPr/>
        </p:nvSpPr>
        <p:spPr>
          <a:xfrm>
            <a:off x="9673400" y="5295678"/>
            <a:ext cx="1785300" cy="5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9F1"/>
              </a:buClr>
              <a:buSzPts val="1150"/>
              <a:buFont typeface="Arial"/>
              <a:buNone/>
            </a:pPr>
            <a:r>
              <a:rPr b="0" i="1" lang="en-US" sz="1150" u="none" cap="none" strike="noStrike">
                <a:solidFill>
                  <a:srgbClr val="D8B7BC"/>
                </a:solidFill>
                <a:latin typeface="Calibri"/>
                <a:ea typeface="Calibri"/>
                <a:cs typeface="Calibri"/>
                <a:sym typeface="Calibri"/>
              </a:rPr>
              <a:t>run through the identical evaluation pipeline.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" name="Google Shape;110;g3fbac02e886_1_1997"/>
          <p:cNvSpPr/>
          <p:nvPr/>
        </p:nvSpPr>
        <p:spPr>
          <a:xfrm>
            <a:off x="2883400" y="1248780"/>
            <a:ext cx="6390000" cy="2400000"/>
          </a:xfrm>
          <a:prstGeom prst="roundRect">
            <a:avLst>
              <a:gd fmla="val 4500" name="adj"/>
            </a:avLst>
          </a:prstGeom>
          <a:solidFill>
            <a:srgbClr val="F0E4CE"/>
          </a:solidFill>
          <a:ln cap="flat" cmpd="sng" w="9525">
            <a:solidFill>
              <a:srgbClr val="D4BD9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2D181C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" name="Google Shape;111;g3fbac02e886_1_1997"/>
          <p:cNvSpPr/>
          <p:nvPr/>
        </p:nvSpPr>
        <p:spPr>
          <a:xfrm>
            <a:off x="3013400" y="1368780"/>
            <a:ext cx="1350000" cy="249900"/>
          </a:xfrm>
          <a:prstGeom prst="roundRect">
            <a:avLst>
              <a:gd fmla="val 50000" name="adj"/>
            </a:avLst>
          </a:prstGeom>
          <a:solidFill>
            <a:srgbClr val="E2D1B2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D181C"/>
              </a:buClr>
              <a:buSzPts val="1050"/>
              <a:buFont typeface="Arial"/>
              <a:buNone/>
            </a:pPr>
            <a:r>
              <a:rPr b="1" i="0" lang="en-US" sz="1150" u="none" cap="none" strike="noStrike">
                <a:solidFill>
                  <a:srgbClr val="5A2830"/>
                </a:solidFill>
                <a:latin typeface="Calibri"/>
                <a:ea typeface="Calibri"/>
                <a:cs typeface="Calibri"/>
                <a:sym typeface="Calibri"/>
              </a:rPr>
              <a:t>QUANTUM ARM</a:t>
            </a:r>
            <a:endParaRPr b="0" i="0" sz="1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" name="Google Shape;112;g3fbac02e886_1_1997"/>
          <p:cNvSpPr txBox="1"/>
          <p:nvPr/>
        </p:nvSpPr>
        <p:spPr>
          <a:xfrm>
            <a:off x="4463400" y="1343780"/>
            <a:ext cx="32001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D181C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2D181C"/>
                </a:solidFill>
                <a:latin typeface="Cambria"/>
                <a:ea typeface="Cambria"/>
                <a:cs typeface="Cambria"/>
                <a:sym typeface="Cambria"/>
              </a:rPr>
              <a:t>QAOA - Qiskit Aer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" name="Google Shape;113;g3fbac02e886_1_1997"/>
          <p:cNvSpPr/>
          <p:nvPr/>
        </p:nvSpPr>
        <p:spPr>
          <a:xfrm>
            <a:off x="3013400" y="1718780"/>
            <a:ext cx="2900100" cy="1800000"/>
          </a:xfrm>
          <a:prstGeom prst="roundRect">
            <a:avLst>
              <a:gd fmla="val 5000" name="adj"/>
            </a:avLst>
          </a:prstGeom>
          <a:solidFill>
            <a:srgbClr val="FFFFFF"/>
          </a:solidFill>
          <a:ln cap="flat" cmpd="sng" w="9525">
            <a:solidFill>
              <a:srgbClr val="D4BD9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2D181C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" name="Google Shape;114;g3fbac02e886_1_1997"/>
          <p:cNvSpPr txBox="1"/>
          <p:nvPr/>
        </p:nvSpPr>
        <p:spPr>
          <a:xfrm>
            <a:off x="3183400" y="1858780"/>
            <a:ext cx="2559900" cy="15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D181C"/>
              </a:buClr>
              <a:buSzPts val="1050"/>
              <a:buFont typeface="Arial"/>
              <a:buNone/>
            </a:pPr>
            <a:r>
              <a:rPr b="1" i="0" lang="en-US" sz="1200" u="none" cap="none" strike="noStrike">
                <a:solidFill>
                  <a:srgbClr val="6B323C"/>
                </a:solidFill>
                <a:latin typeface="Calibri"/>
                <a:ea typeface="Calibri"/>
                <a:cs typeface="Calibri"/>
                <a:sym typeface="Calibri"/>
              </a:rPr>
              <a:t>STAGE 2A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2D181C"/>
              </a:buClr>
              <a:buSzPts val="1350"/>
              <a:buFont typeface="Arial"/>
              <a:buNone/>
            </a:pPr>
            <a:r>
              <a:rPr b="1" i="0" lang="en-US" sz="1350" u="none" cap="none" strike="noStrike">
                <a:solidFill>
                  <a:srgbClr val="2D181C"/>
                </a:solidFill>
                <a:latin typeface="Calibri"/>
                <a:ea typeface="Calibri"/>
                <a:cs typeface="Calibri"/>
                <a:sym typeface="Calibri"/>
              </a:rPr>
              <a:t>XY-Mixer QUBO Formulation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2D181C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2D181C"/>
                </a:solidFill>
                <a:latin typeface="Calibri"/>
                <a:ea typeface="Calibri"/>
                <a:cs typeface="Calibri"/>
                <a:sym typeface="Calibri"/>
              </a:rPr>
              <a:t>XY mixer, not penalties: </a:t>
            </a:r>
            <a:r>
              <a:rPr b="0" i="0" lang="en-US" sz="1200" u="none" cap="none" strike="noStrike">
                <a:solidFill>
                  <a:srgbClr val="5A3C41"/>
                </a:solidFill>
                <a:latin typeface="Calibri"/>
                <a:ea typeface="Calibri"/>
                <a:cs typeface="Calibri"/>
                <a:sym typeface="Calibri"/>
              </a:rPr>
              <a:t>The circuit only ever explores the feasible one-hot subspace, making "one DC per order" structural without penalty weight tuning.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" name="Google Shape;115;g3fbac02e886_1_1997"/>
          <p:cNvSpPr/>
          <p:nvPr/>
        </p:nvSpPr>
        <p:spPr>
          <a:xfrm>
            <a:off x="6243400" y="1718780"/>
            <a:ext cx="2900100" cy="1800000"/>
          </a:xfrm>
          <a:prstGeom prst="roundRect">
            <a:avLst>
              <a:gd fmla="val 5000" name="adj"/>
            </a:avLst>
          </a:prstGeom>
          <a:solidFill>
            <a:srgbClr val="FFFFFF"/>
          </a:solidFill>
          <a:ln cap="flat" cmpd="sng" w="9525">
            <a:solidFill>
              <a:srgbClr val="D4BD9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2D181C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" name="Google Shape;116;g3fbac02e886_1_1997"/>
          <p:cNvSpPr txBox="1"/>
          <p:nvPr/>
        </p:nvSpPr>
        <p:spPr>
          <a:xfrm>
            <a:off x="6413400" y="1858780"/>
            <a:ext cx="2559900" cy="15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D181C"/>
              </a:buClr>
              <a:buSzPts val="1050"/>
              <a:buFont typeface="Arial"/>
              <a:buNone/>
            </a:pPr>
            <a:r>
              <a:rPr b="1" i="0" lang="en-US" sz="1200" u="none" cap="none" strike="noStrike">
                <a:solidFill>
                  <a:srgbClr val="6B323C"/>
                </a:solidFill>
                <a:latin typeface="Calibri"/>
                <a:ea typeface="Calibri"/>
                <a:cs typeface="Calibri"/>
                <a:sym typeface="Calibri"/>
              </a:rPr>
              <a:t>STAGE 2B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2D181C"/>
              </a:buClr>
              <a:buSzPts val="1350"/>
              <a:buFont typeface="Arial"/>
              <a:buNone/>
            </a:pPr>
            <a:r>
              <a:rPr b="1" i="0" lang="en-US" sz="1350" u="none" cap="none" strike="noStrike">
                <a:solidFill>
                  <a:srgbClr val="2D181C"/>
                </a:solidFill>
                <a:latin typeface="Calibri"/>
                <a:ea typeface="Calibri"/>
                <a:cs typeface="Calibri"/>
                <a:sym typeface="Calibri"/>
              </a:rPr>
              <a:t>CVaR Optimization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2D181C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2D181C"/>
                </a:solidFill>
                <a:latin typeface="Calibri"/>
                <a:ea typeface="Calibri"/>
                <a:cs typeface="Calibri"/>
                <a:sym typeface="Calibri"/>
              </a:rPr>
              <a:t>CVaR tail objective (α = 0.20): </a:t>
            </a:r>
            <a:r>
              <a:rPr b="0" i="0" lang="en-US" sz="1200" u="none" cap="none" strike="noStrike">
                <a:solidFill>
                  <a:srgbClr val="5A3C41"/>
                </a:solidFill>
                <a:latin typeface="Calibri"/>
                <a:ea typeface="Calibri"/>
                <a:cs typeface="Calibri"/>
                <a:sym typeface="Calibri"/>
              </a:rPr>
              <a:t>COBYLA optimises the top 20% of shots, steering past shot noise instead of being dragged down by bad samples.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17" name="Google Shape;117;g3fbac02e886_1_1997"/>
          <p:cNvCxnSpPr/>
          <p:nvPr/>
        </p:nvCxnSpPr>
        <p:spPr>
          <a:xfrm>
            <a:off x="2683400" y="2618780"/>
            <a:ext cx="330000" cy="0"/>
          </a:xfrm>
          <a:prstGeom prst="straightConnector1">
            <a:avLst/>
          </a:prstGeom>
          <a:noFill/>
          <a:ln cap="flat" cmpd="sng" w="28575">
            <a:solidFill>
              <a:srgbClr val="6B323C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18" name="Google Shape;118;g3fbac02e886_1_1997"/>
          <p:cNvCxnSpPr/>
          <p:nvPr/>
        </p:nvCxnSpPr>
        <p:spPr>
          <a:xfrm>
            <a:off x="5913400" y="2618780"/>
            <a:ext cx="330000" cy="0"/>
          </a:xfrm>
          <a:prstGeom prst="straightConnector1">
            <a:avLst/>
          </a:prstGeom>
          <a:noFill/>
          <a:ln cap="flat" cmpd="sng" w="28575">
            <a:solidFill>
              <a:srgbClr val="6B323C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19" name="Google Shape;119;g3fbac02e886_1_1997"/>
          <p:cNvCxnSpPr/>
          <p:nvPr/>
        </p:nvCxnSpPr>
        <p:spPr>
          <a:xfrm>
            <a:off x="9143400" y="2618780"/>
            <a:ext cx="330000" cy="0"/>
          </a:xfrm>
          <a:prstGeom prst="straightConnector1">
            <a:avLst/>
          </a:prstGeom>
          <a:noFill/>
          <a:ln cap="flat" cmpd="sng" w="28575">
            <a:solidFill>
              <a:srgbClr val="6B323C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20" name="Google Shape;120;g3fbac02e886_1_1997"/>
          <p:cNvSpPr/>
          <p:nvPr/>
        </p:nvSpPr>
        <p:spPr>
          <a:xfrm>
            <a:off x="2883400" y="3798780"/>
            <a:ext cx="6390000" cy="2400000"/>
          </a:xfrm>
          <a:prstGeom prst="roundRect">
            <a:avLst>
              <a:gd fmla="val 4500" name="adj"/>
            </a:avLst>
          </a:prstGeom>
          <a:solidFill>
            <a:srgbClr val="F9EFDD"/>
          </a:solidFill>
          <a:ln cap="flat" cmpd="sng" w="9525">
            <a:solidFill>
              <a:srgbClr val="E3CFA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2D181C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" name="Google Shape;121;g3fbac02e886_1_1997"/>
          <p:cNvSpPr/>
          <p:nvPr/>
        </p:nvSpPr>
        <p:spPr>
          <a:xfrm>
            <a:off x="3013400" y="3918780"/>
            <a:ext cx="1350000" cy="249900"/>
          </a:xfrm>
          <a:prstGeom prst="roundRect">
            <a:avLst>
              <a:gd fmla="val 50000" name="adj"/>
            </a:avLst>
          </a:prstGeom>
          <a:solidFill>
            <a:srgbClr val="F0DDBE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D181C"/>
              </a:buClr>
              <a:buSzPts val="1050"/>
              <a:buFont typeface="Arial"/>
              <a:buNone/>
            </a:pPr>
            <a:r>
              <a:rPr b="1" i="0" lang="en-US" sz="1150" u="none" cap="none" strike="noStrike">
                <a:solidFill>
                  <a:srgbClr val="8F3645"/>
                </a:solidFill>
                <a:latin typeface="Calibri"/>
                <a:ea typeface="Calibri"/>
                <a:cs typeface="Calibri"/>
                <a:sym typeface="Calibri"/>
              </a:rPr>
              <a:t>CLASSICAL ARM</a:t>
            </a:r>
            <a:endParaRPr b="0" i="0" sz="1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" name="Google Shape;122;g3fbac02e886_1_1997"/>
          <p:cNvSpPr txBox="1"/>
          <p:nvPr/>
        </p:nvSpPr>
        <p:spPr>
          <a:xfrm>
            <a:off x="4463400" y="3893780"/>
            <a:ext cx="32001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D181C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2D181C"/>
                </a:solidFill>
                <a:latin typeface="Cambria"/>
                <a:ea typeface="Cambria"/>
                <a:cs typeface="Cambria"/>
                <a:sym typeface="Cambria"/>
              </a:rPr>
              <a:t>MILP - PuLP + CBC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" name="Google Shape;123;g3fbac02e886_1_1997"/>
          <p:cNvSpPr/>
          <p:nvPr/>
        </p:nvSpPr>
        <p:spPr>
          <a:xfrm>
            <a:off x="3013400" y="4268780"/>
            <a:ext cx="2900100" cy="1800000"/>
          </a:xfrm>
          <a:prstGeom prst="roundRect">
            <a:avLst>
              <a:gd fmla="val 5000" name="adj"/>
            </a:avLst>
          </a:prstGeom>
          <a:solidFill>
            <a:srgbClr val="FFFFFF"/>
          </a:solidFill>
          <a:ln cap="flat" cmpd="sng" w="9525">
            <a:solidFill>
              <a:srgbClr val="E3CFA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2D181C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" name="Google Shape;124;g3fbac02e886_1_1997"/>
          <p:cNvSpPr txBox="1"/>
          <p:nvPr/>
        </p:nvSpPr>
        <p:spPr>
          <a:xfrm>
            <a:off x="3183400" y="4408780"/>
            <a:ext cx="2559900" cy="15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D181C"/>
              </a:buClr>
              <a:buSzPts val="1050"/>
              <a:buFont typeface="Arial"/>
              <a:buNone/>
            </a:pPr>
            <a:r>
              <a:rPr b="1" i="0" lang="en-US" sz="1200" u="none" cap="none" strike="noStrike">
                <a:solidFill>
                  <a:srgbClr val="8F3645"/>
                </a:solidFill>
                <a:latin typeface="Calibri"/>
                <a:ea typeface="Calibri"/>
                <a:cs typeface="Calibri"/>
                <a:sym typeface="Calibri"/>
              </a:rPr>
              <a:t>STAGE 2A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2D181C"/>
              </a:buClr>
              <a:buSzPts val="1350"/>
              <a:buFont typeface="Arial"/>
              <a:buNone/>
            </a:pPr>
            <a:r>
              <a:rPr b="1" i="0" lang="en-US" sz="1350" u="none" cap="none" strike="noStrike">
                <a:solidFill>
                  <a:srgbClr val="2D181C"/>
                </a:solidFill>
                <a:latin typeface="Calibri"/>
                <a:ea typeface="Calibri"/>
                <a:cs typeface="Calibri"/>
                <a:sym typeface="Calibri"/>
              </a:rPr>
              <a:t>Full 7-Constraint Formulation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2D181C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2D181C"/>
                </a:solidFill>
                <a:latin typeface="Calibri"/>
                <a:ea typeface="Calibri"/>
                <a:cs typeface="Calibri"/>
                <a:sym typeface="Calibri"/>
              </a:rPr>
              <a:t>All 7 constraints native: </a:t>
            </a:r>
            <a:r>
              <a:rPr b="0" i="0" lang="en-US" sz="1200" u="none" cap="none" strike="noStrike">
                <a:solidFill>
                  <a:srgbClr val="5A3C41"/>
                </a:solidFill>
                <a:latin typeface="Calibri"/>
                <a:ea typeface="Calibri"/>
                <a:cs typeface="Calibri"/>
                <a:sym typeface="Calibri"/>
              </a:rPr>
              <a:t>Inventory,, case/pallet picking, dock capacity and C4 divert hurdle modeled as exact linear constraints.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" name="Google Shape;125;g3fbac02e886_1_1997"/>
          <p:cNvSpPr/>
          <p:nvPr/>
        </p:nvSpPr>
        <p:spPr>
          <a:xfrm>
            <a:off x="6243400" y="4268780"/>
            <a:ext cx="2900100" cy="1800000"/>
          </a:xfrm>
          <a:prstGeom prst="roundRect">
            <a:avLst>
              <a:gd fmla="val 5000" name="adj"/>
            </a:avLst>
          </a:prstGeom>
          <a:solidFill>
            <a:srgbClr val="FFFFFF"/>
          </a:solidFill>
          <a:ln cap="flat" cmpd="sng" w="9525">
            <a:solidFill>
              <a:srgbClr val="E3CFA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2D181C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" name="Google Shape;126;g3fbac02e886_1_1997"/>
          <p:cNvSpPr txBox="1"/>
          <p:nvPr/>
        </p:nvSpPr>
        <p:spPr>
          <a:xfrm>
            <a:off x="6413400" y="4408780"/>
            <a:ext cx="2559900" cy="15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D181C"/>
              </a:buClr>
              <a:buSzPts val="1050"/>
              <a:buFont typeface="Arial"/>
              <a:buNone/>
            </a:pPr>
            <a:r>
              <a:rPr b="1" i="0" lang="en-US" sz="1200" u="none" cap="none" strike="noStrike">
                <a:solidFill>
                  <a:srgbClr val="8F3645"/>
                </a:solidFill>
                <a:latin typeface="Calibri"/>
                <a:ea typeface="Calibri"/>
                <a:cs typeface="Calibri"/>
                <a:sym typeface="Calibri"/>
              </a:rPr>
              <a:t>STAGE 2B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2D181C"/>
              </a:buClr>
              <a:buSzPts val="1350"/>
              <a:buFont typeface="Arial"/>
              <a:buNone/>
            </a:pPr>
            <a:r>
              <a:rPr b="1" i="0" lang="en-US" sz="1350" u="none" cap="none" strike="noStrike">
                <a:solidFill>
                  <a:srgbClr val="2D181C"/>
                </a:solidFill>
                <a:latin typeface="Calibri"/>
                <a:ea typeface="Calibri"/>
                <a:cs typeface="Calibri"/>
                <a:sym typeface="Calibri"/>
              </a:rPr>
              <a:t>CBC Branch-and-Cut Solve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2D181C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2D181C"/>
                </a:solidFill>
                <a:latin typeface="Calibri"/>
                <a:ea typeface="Calibri"/>
                <a:cs typeface="Calibri"/>
                <a:sym typeface="Calibri"/>
              </a:rPr>
              <a:t>Deterministic and unbounded: </a:t>
            </a:r>
            <a:r>
              <a:rPr b="0" i="0" lang="en-US" sz="1200" u="none" cap="none" strike="noStrike">
                <a:solidFill>
                  <a:srgbClr val="5A3C41"/>
                </a:solidFill>
                <a:latin typeface="Calibri"/>
                <a:ea typeface="Calibri"/>
                <a:cs typeface="Calibri"/>
                <a:sym typeface="Calibri"/>
              </a:rPr>
              <a:t>No qubit ceiling and no seed dependence - returns the same optimal answer in under a second, every run.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27" name="Google Shape;127;g3fbac02e886_1_1997"/>
          <p:cNvCxnSpPr/>
          <p:nvPr/>
        </p:nvCxnSpPr>
        <p:spPr>
          <a:xfrm>
            <a:off x="2683400" y="5168780"/>
            <a:ext cx="330000" cy="0"/>
          </a:xfrm>
          <a:prstGeom prst="straightConnector1">
            <a:avLst/>
          </a:prstGeom>
          <a:noFill/>
          <a:ln cap="flat" cmpd="sng" w="28575">
            <a:solidFill>
              <a:srgbClr val="A03C4D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28" name="Google Shape;128;g3fbac02e886_1_1997"/>
          <p:cNvCxnSpPr/>
          <p:nvPr/>
        </p:nvCxnSpPr>
        <p:spPr>
          <a:xfrm>
            <a:off x="5913400" y="5168780"/>
            <a:ext cx="330000" cy="0"/>
          </a:xfrm>
          <a:prstGeom prst="straightConnector1">
            <a:avLst/>
          </a:prstGeom>
          <a:noFill/>
          <a:ln cap="flat" cmpd="sng" w="28575">
            <a:solidFill>
              <a:srgbClr val="A03C4D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29" name="Google Shape;129;g3fbac02e886_1_1997"/>
          <p:cNvCxnSpPr/>
          <p:nvPr/>
        </p:nvCxnSpPr>
        <p:spPr>
          <a:xfrm>
            <a:off x="9143400" y="5168780"/>
            <a:ext cx="330000" cy="0"/>
          </a:xfrm>
          <a:prstGeom prst="straightConnector1">
            <a:avLst/>
          </a:prstGeom>
          <a:noFill/>
          <a:ln cap="flat" cmpd="sng" w="28575">
            <a:solidFill>
              <a:srgbClr val="A03C4D"/>
            </a:solidFill>
            <a:prstDash val="solid"/>
            <a:round/>
            <a:headEnd len="sm" w="sm" type="none"/>
            <a:tailEnd len="med" w="med" type="triangle"/>
          </a:ln>
        </p:spPr>
      </p:cxn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EF9F1"/>
        </a:solidFill>
      </p:bgPr>
    </p:bg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4"/>
          <p:cNvSpPr txBox="1"/>
          <p:nvPr/>
        </p:nvSpPr>
        <p:spPr>
          <a:xfrm>
            <a:off x="548640" y="456206"/>
            <a:ext cx="100584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F3645"/>
              </a:buClr>
              <a:buSzPts val="1200"/>
              <a:buFont typeface="Calibri"/>
              <a:buNone/>
            </a:pPr>
            <a:r>
              <a:rPr b="1" i="0" lang="en-US" sz="1600" u="none" cap="none" strike="noStrike">
                <a:solidFill>
                  <a:srgbClr val="8F3645"/>
                </a:solidFill>
                <a:latin typeface="Calibri"/>
                <a:ea typeface="Calibri"/>
                <a:cs typeface="Calibri"/>
                <a:sym typeface="Calibri"/>
              </a:rPr>
              <a:t>BENCHMARK RESULTS</a:t>
            </a:r>
            <a:endParaRPr b="0" i="0" sz="1600" u="none" cap="none" strike="noStrike">
              <a:solidFill>
                <a:srgbClr val="2D181C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4"/>
          <p:cNvSpPr txBox="1"/>
          <p:nvPr/>
        </p:nvSpPr>
        <p:spPr>
          <a:xfrm>
            <a:off x="548640" y="776246"/>
            <a:ext cx="110643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D181C"/>
              </a:buClr>
              <a:buSzPts val="3200"/>
              <a:buFont typeface="Cambria"/>
              <a:buNone/>
            </a:pPr>
            <a:r>
              <a:rPr b="1" i="0" lang="en-US" sz="3000" u="none" cap="none" strike="noStrike">
                <a:solidFill>
                  <a:srgbClr val="2D181C"/>
                </a:solidFill>
                <a:latin typeface="Cambria"/>
                <a:ea typeface="Cambria"/>
                <a:cs typeface="Cambria"/>
                <a:sym typeface="Cambria"/>
              </a:rPr>
              <a:t>Four dates look identical. The fifth separates the solvers.</a:t>
            </a:r>
            <a:endParaRPr b="0" i="0" sz="3000" u="none" cap="none" strike="noStrike">
              <a:solidFill>
                <a:srgbClr val="2D181C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37" name="Google Shape;137;p4"/>
          <p:cNvGraphicFramePr/>
          <p:nvPr/>
        </p:nvGraphicFramePr>
        <p:xfrm>
          <a:off x="548640" y="158231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{A71614B2-B5BB-411F-A948-D05152DDA02D}</a:tableStyleId>
              </a:tblPr>
              <a:tblGrid>
                <a:gridCol w="2514600"/>
                <a:gridCol w="1051550"/>
                <a:gridCol w="731525"/>
                <a:gridCol w="640075"/>
                <a:gridCol w="685800"/>
                <a:gridCol w="1097275"/>
              </a:tblGrid>
              <a:tr h="3840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EF9F1"/>
                        </a:buClr>
                        <a:buSzPts val="1150"/>
                        <a:buFont typeface="Calibri"/>
                        <a:buNone/>
                      </a:pPr>
                      <a:r>
                        <a:rPr b="1" lang="en-US" sz="1150" u="none" cap="none" strike="noStrike">
                          <a:solidFill>
                            <a:srgbClr val="FEF9F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Solver pipeline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6200" marB="76200" marR="76200" marL="76200" anchor="ctr">
                    <a:lnL cap="flat" cmpd="sng" w="12700">
                      <a:solidFill>
                        <a:srgbClr val="E4D5B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4D5B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4D5B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4D5B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D181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EF9F1"/>
                        </a:buClr>
                        <a:buSzPts val="1150"/>
                        <a:buFont typeface="Calibri"/>
                        <a:buNone/>
                      </a:pPr>
                      <a:r>
                        <a:rPr b="1" lang="en-US" sz="1150" u="none" cap="none" strike="noStrike">
                          <a:solidFill>
                            <a:srgbClr val="FEF9F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Mean profit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6200" marB="76200" marR="76200" marL="76200" anchor="ctr">
                    <a:lnL cap="flat" cmpd="sng" w="12700">
                      <a:solidFill>
                        <a:srgbClr val="E4D5B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4D5B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4D5B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4D5B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D181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EF9F1"/>
                        </a:buClr>
                        <a:buSzPts val="1150"/>
                        <a:buFont typeface="Calibri"/>
                        <a:buNone/>
                      </a:pPr>
                      <a:r>
                        <a:rPr b="1" lang="en-US" sz="1150" u="none" cap="none" strike="noStrike">
                          <a:solidFill>
                            <a:srgbClr val="FEF9F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Gap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6200" marB="76200" marR="76200" marL="76200" anchor="ctr">
                    <a:lnL cap="flat" cmpd="sng" w="12700">
                      <a:solidFill>
                        <a:srgbClr val="E4D5B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4D5B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4D5B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4D5B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D181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EF9F1"/>
                        </a:buClr>
                        <a:buSzPts val="1150"/>
                        <a:buFont typeface="Calibri"/>
                        <a:buNone/>
                      </a:pPr>
                      <a:r>
                        <a:rPr b="1" lang="en-US" sz="1150" u="none" cap="none" strike="noStrike">
                          <a:solidFill>
                            <a:srgbClr val="FEF9F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Fill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6200" marB="76200" marR="76200" marL="76200" anchor="ctr">
                    <a:lnL cap="flat" cmpd="sng" w="12700">
                      <a:solidFill>
                        <a:srgbClr val="E4D5B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4D5B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4D5B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4D5B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D181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EF9F1"/>
                        </a:buClr>
                        <a:buSzPts val="1150"/>
                        <a:buFont typeface="Calibri"/>
                        <a:buNone/>
                      </a:pPr>
                      <a:r>
                        <a:rPr b="1" lang="en-US" sz="1150" u="none" cap="none" strike="noStrike">
                          <a:solidFill>
                            <a:srgbClr val="FEF9F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F1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6200" marB="76200" marR="76200" marL="76200" anchor="ctr">
                    <a:lnL cap="flat" cmpd="sng" w="12700">
                      <a:solidFill>
                        <a:srgbClr val="E4D5B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4D5B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4D5B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4D5B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D181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EF9F1"/>
                        </a:buClr>
                        <a:buSzPts val="1150"/>
                        <a:buFont typeface="Calibri"/>
                        <a:buNone/>
                      </a:pPr>
                      <a:r>
                        <a:rPr b="1" lang="en-US" sz="1150" u="none" cap="none" strike="noStrike">
                          <a:solidFill>
                            <a:srgbClr val="FEF9F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Runtime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6200" marB="76200" marR="76200" marL="76200" anchor="ctr">
                    <a:lnL cap="flat" cmpd="sng" w="12700">
                      <a:solidFill>
                        <a:srgbClr val="E4D5B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4D5B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4D5B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4D5B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D181C"/>
                    </a:solidFill>
                  </a:tcPr>
                </a:tc>
              </a:tr>
              <a:tr h="3840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A2E33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4A2E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Baseline 1 · strict default DC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6200" marB="76200" marR="76200" marL="76200" anchor="ctr">
                    <a:lnL cap="flat" cmpd="sng" w="12700">
                      <a:solidFill>
                        <a:srgbClr val="E4D5B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4D5B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4D5B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4D5B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ECD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A2E33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4A2E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$181,865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6200" marB="76200" marR="76200" marL="76200" anchor="ctr">
                    <a:lnL cap="flat" cmpd="sng" w="12700">
                      <a:solidFill>
                        <a:srgbClr val="E4D5B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4D5B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4D5B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4D5B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ECD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A2E33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4A2E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75.1%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6200" marB="76200" marR="76200" marL="76200" anchor="ctr">
                    <a:lnL cap="flat" cmpd="sng" w="12700">
                      <a:solidFill>
                        <a:srgbClr val="E4D5B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4D5B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4D5B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4D5B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ECD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A2E33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4A2E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19%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6200" marB="76200" marR="76200" marL="76200" anchor="ctr">
                    <a:lnL cap="flat" cmpd="sng" w="12700">
                      <a:solidFill>
                        <a:srgbClr val="E4D5B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4D5B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4D5B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4D5B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ECD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A2E33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4A2E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0.000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6200" marB="76200" marR="76200" marL="76200" anchor="ctr">
                    <a:lnL cap="flat" cmpd="sng" w="12700">
                      <a:solidFill>
                        <a:srgbClr val="E4D5B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4D5B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4D5B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4D5B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ECD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A2E33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4A2E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0.01s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6200" marB="76200" marR="76200" marL="76200" anchor="ctr">
                    <a:lnL cap="flat" cmpd="sng" w="12700">
                      <a:solidFill>
                        <a:srgbClr val="E4D5B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4D5B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4D5B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4D5B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ECDA"/>
                    </a:solidFill>
                  </a:tcPr>
                </a:tc>
              </a:tr>
              <a:tr h="3840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A2E33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4A2E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Baseline 2 · greedy sequential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6200" marB="76200" marR="76200" marL="76200" anchor="ctr">
                    <a:lnL cap="flat" cmpd="sng" w="12700">
                      <a:solidFill>
                        <a:srgbClr val="E4D5B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4D5B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4D5B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4D5B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A2E33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4A2E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$896,014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6200" marB="76200" marR="76200" marL="76200" anchor="ctr">
                    <a:lnL cap="flat" cmpd="sng" w="12700">
                      <a:solidFill>
                        <a:srgbClr val="E4D5B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4D5B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4D5B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4D5B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A2E33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4A2E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0.8%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6200" marB="76200" marR="76200" marL="76200" anchor="ctr">
                    <a:lnL cap="flat" cmpd="sng" w="12700">
                      <a:solidFill>
                        <a:srgbClr val="E4D5B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4D5B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4D5B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4D5B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A2E33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4A2E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89%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6200" marB="76200" marR="76200" marL="76200" anchor="ctr">
                    <a:lnL cap="flat" cmpd="sng" w="12700">
                      <a:solidFill>
                        <a:srgbClr val="E4D5B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4D5B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4D5B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4D5B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A2E33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4A2E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0.791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6200" marB="76200" marR="76200" marL="76200" anchor="ctr">
                    <a:lnL cap="flat" cmpd="sng" w="12700">
                      <a:solidFill>
                        <a:srgbClr val="E4D5B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4D5B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4D5B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4D5B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A2E33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4A2E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0.01s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6200" marB="76200" marR="76200" marL="76200" anchor="ctr">
                    <a:lnL cap="flat" cmpd="sng" w="12700">
                      <a:solidFill>
                        <a:srgbClr val="E4D5B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4D5B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4D5B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4D5B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840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A2E33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4A2E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MILP · 7-constraint PoC (CBC)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6200" marB="76200" marR="76200" marL="76200" anchor="ctr">
                    <a:lnL cap="flat" cmpd="sng" w="12700">
                      <a:solidFill>
                        <a:srgbClr val="E4D5B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4D5B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4D5B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4D5B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ECD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A2E33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4A2E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$894,713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6200" marB="76200" marR="76200" marL="76200" anchor="ctr">
                    <a:lnL cap="flat" cmpd="sng" w="12700">
                      <a:solidFill>
                        <a:srgbClr val="E4D5B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4D5B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4D5B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4D5B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ECD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A2E33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4A2E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1.0%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6200" marB="76200" marR="76200" marL="76200" anchor="ctr">
                    <a:lnL cap="flat" cmpd="sng" w="12700">
                      <a:solidFill>
                        <a:srgbClr val="E4D5B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4D5B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4D5B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4D5B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ECD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A2E33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4A2E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88%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6200" marB="76200" marR="76200" marL="76200" anchor="ctr">
                    <a:lnL cap="flat" cmpd="sng" w="12700">
                      <a:solidFill>
                        <a:srgbClr val="E4D5B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4D5B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4D5B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4D5B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ECD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A2E33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4A2E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0.751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6200" marB="76200" marR="76200" marL="76200" anchor="ctr">
                    <a:lnL cap="flat" cmpd="sng" w="12700">
                      <a:solidFill>
                        <a:srgbClr val="E4D5B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4D5B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4D5B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4D5B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ECD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A2E33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4A2E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0.99s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6200" marB="76200" marR="76200" marL="76200" anchor="ctr">
                    <a:lnL cap="flat" cmpd="sng" w="12700">
                      <a:solidFill>
                        <a:srgbClr val="E4D5B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4D5B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4D5B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4D5B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ECDA"/>
                    </a:solidFill>
                  </a:tcPr>
                </a:tc>
              </a:tr>
              <a:tr h="3840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D181C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2D181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QAOA · XY-mixer, CVaR 0.20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6200" marB="76200" marR="76200" marL="76200" anchor="ctr">
                    <a:lnL cap="flat" cmpd="sng" w="12700">
                      <a:solidFill>
                        <a:srgbClr val="E4D5B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4D5B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4D5B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4D5B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3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D181C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2D181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$900,954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6200" marB="76200" marR="76200" marL="76200" anchor="ctr">
                    <a:lnL cap="flat" cmpd="sng" w="12700">
                      <a:solidFill>
                        <a:srgbClr val="E4D5B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4D5B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4D5B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4D5B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3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D181C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2D181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0.0%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6200" marB="76200" marR="76200" marL="76200" anchor="ctr">
                    <a:lnL cap="flat" cmpd="sng" w="12700">
                      <a:solidFill>
                        <a:srgbClr val="E4D5B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4D5B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4D5B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4D5B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3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D181C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2D181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89%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6200" marB="76200" marR="76200" marL="76200" anchor="ctr">
                    <a:lnL cap="flat" cmpd="sng" w="12700">
                      <a:solidFill>
                        <a:srgbClr val="E4D5B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4D5B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4D5B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4D5B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3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D181C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2D181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1.000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6200" marB="76200" marR="76200" marL="76200" anchor="ctr">
                    <a:lnL cap="flat" cmpd="sng" w="12700">
                      <a:solidFill>
                        <a:srgbClr val="E4D5B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4D5B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4D5B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4D5B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3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D181C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2D181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16.77s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6200" marB="76200" marR="76200" marL="76200" anchor="ctr">
                    <a:lnL cap="flat" cmpd="sng" w="12700">
                      <a:solidFill>
                        <a:srgbClr val="E4D5B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4D5B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4D5B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4D5B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3CC"/>
                    </a:solidFill>
                  </a:tcPr>
                </a:tc>
              </a:tr>
            </a:tbl>
          </a:graphicData>
        </a:graphic>
      </p:graphicFrame>
      <p:sp>
        <p:nvSpPr>
          <p:cNvPr id="138" name="Google Shape;138;p4"/>
          <p:cNvSpPr txBox="1"/>
          <p:nvPr/>
        </p:nvSpPr>
        <p:spPr>
          <a:xfrm>
            <a:off x="548640" y="3512710"/>
            <a:ext cx="67209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A585E"/>
              </a:buClr>
              <a:buSzPts val="1100"/>
              <a:buFont typeface="Calibri"/>
              <a:buNone/>
            </a:pPr>
            <a:r>
              <a:rPr b="0" i="1" lang="en-US" sz="1100" u="none" cap="none" strike="noStrike">
                <a:solidFill>
                  <a:srgbClr val="7A585E"/>
                </a:solidFill>
                <a:latin typeface="Calibri"/>
                <a:ea typeface="Calibri"/>
                <a:cs typeface="Calibri"/>
                <a:sym typeface="Calibri"/>
              </a:rPr>
              <a:t>Scored against a certified brute-force optimum · cumulative profit across the five dates ≈ $4.5M</a:t>
            </a:r>
            <a:endParaRPr b="0" i="0" sz="1100" u="none" cap="none" strike="noStrike">
              <a:solidFill>
                <a:srgbClr val="2D181C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4"/>
          <p:cNvSpPr/>
          <p:nvPr/>
        </p:nvSpPr>
        <p:spPr>
          <a:xfrm>
            <a:off x="518823" y="4093523"/>
            <a:ext cx="6720900" cy="1783200"/>
          </a:xfrm>
          <a:prstGeom prst="roundRect">
            <a:avLst>
              <a:gd fmla="val 4103" name="adj"/>
            </a:avLst>
          </a:prstGeom>
          <a:solidFill>
            <a:srgbClr val="F7ECDA"/>
          </a:solidFill>
          <a:ln cap="flat" cmpd="sng" w="12700">
            <a:solidFill>
              <a:srgbClr val="E4D5B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" name="Google Shape;140;p4"/>
          <p:cNvSpPr txBox="1"/>
          <p:nvPr/>
        </p:nvSpPr>
        <p:spPr>
          <a:xfrm>
            <a:off x="793143" y="4230683"/>
            <a:ext cx="62178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F3645"/>
              </a:buClr>
              <a:buSzPts val="1050"/>
              <a:buFont typeface="Calibri"/>
              <a:buNone/>
            </a:pPr>
            <a:r>
              <a:rPr b="1" i="0" lang="en-US" sz="1250" u="none" cap="none" strike="noStrike">
                <a:solidFill>
                  <a:srgbClr val="8F3645"/>
                </a:solidFill>
                <a:latin typeface="Calibri"/>
                <a:ea typeface="Calibri"/>
                <a:cs typeface="Calibri"/>
                <a:sym typeface="Calibri"/>
              </a:rPr>
              <a:t>WHY AVERAGES MISLEAD HERE</a:t>
            </a:r>
            <a:endParaRPr b="0" i="0" sz="1250" u="none" cap="none" strike="noStrike">
              <a:solidFill>
                <a:srgbClr val="2D181C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4"/>
          <p:cNvSpPr txBox="1"/>
          <p:nvPr/>
        </p:nvSpPr>
        <p:spPr>
          <a:xfrm>
            <a:off x="793143" y="4505003"/>
            <a:ext cx="62178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A2E33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4A2E33"/>
                </a:solidFill>
                <a:latin typeface="Calibri"/>
                <a:ea typeface="Calibri"/>
                <a:cs typeface="Calibri"/>
                <a:sym typeface="Calibri"/>
              </a:rPr>
              <a:t>On the four easy dates (06-17 –&gt; 06-23) QAOA sits at 0.00% gap while MILP and greedy both sit at 0.18% - </a:t>
            </a:r>
            <a:r>
              <a:rPr b="0" i="0" lang="en-US" sz="125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nearly identical in profit.</a:t>
            </a:r>
            <a:endParaRPr b="0" i="0" sz="1250" u="none" cap="none" strike="noStrike">
              <a:solidFill>
                <a:srgbClr val="2D181C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4"/>
          <p:cNvSpPr txBox="1"/>
          <p:nvPr/>
        </p:nvSpPr>
        <p:spPr>
          <a:xfrm>
            <a:off x="793143" y="5053643"/>
            <a:ext cx="62178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D181C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8F3645"/>
                </a:solidFill>
                <a:latin typeface="Calibri"/>
                <a:ea typeface="Calibri"/>
                <a:cs typeface="Calibri"/>
                <a:sym typeface="Calibri"/>
              </a:rPr>
              <a:t>Root cause of the divergence: </a:t>
            </a:r>
            <a:r>
              <a:rPr b="1" i="0" lang="en-US" sz="1250" u="none" cap="none" strike="noStrike">
                <a:solidFill>
                  <a:srgbClr val="2D181C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0" i="0" lang="en-US" sz="1250" u="none" cap="none" strike="noStrike">
                <a:solidFill>
                  <a:srgbClr val="4A2E33"/>
                </a:solidFill>
                <a:latin typeface="Calibri"/>
                <a:ea typeface="Calibri"/>
                <a:cs typeface="Calibri"/>
                <a:sym typeface="Calibri"/>
              </a:rPr>
              <a:t>a modelling choice, not randomness. MILP's explicit C4 divert hurdle is structurally conservative under tight capacity; QAOA's global QUBO landscape keeps navigating the trade-off. </a:t>
            </a:r>
            <a:r>
              <a:rPr b="0" i="0" lang="en-US" sz="125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The optimum ignores C4, which blocks 3 of 5 optimum diverts on 06-25.</a:t>
            </a:r>
            <a:endParaRPr b="0" i="0" sz="1250" u="none" cap="none" strike="noStrike">
              <a:solidFill>
                <a:srgbClr val="2D181C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4"/>
          <p:cNvSpPr/>
          <p:nvPr/>
        </p:nvSpPr>
        <p:spPr>
          <a:xfrm>
            <a:off x="7741250" y="4452907"/>
            <a:ext cx="3750900" cy="1451400"/>
          </a:xfrm>
          <a:prstGeom prst="roundRect">
            <a:avLst>
              <a:gd fmla="val 4103" name="adj"/>
            </a:avLst>
          </a:prstGeom>
          <a:solidFill>
            <a:srgbClr val="2D181C"/>
          </a:solidFill>
          <a:ln cap="flat" cmpd="sng" w="10725">
            <a:solidFill>
              <a:srgbClr val="E4D5B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82"/>
              <a:buFont typeface="Arial"/>
              <a:buNone/>
            </a:pPr>
            <a:r>
              <a:t/>
            </a:r>
            <a:endParaRPr b="0" i="0" sz="1182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4" name="Google Shape;144;p4"/>
          <p:cNvSpPr txBox="1"/>
          <p:nvPr/>
        </p:nvSpPr>
        <p:spPr>
          <a:xfrm>
            <a:off x="7863501" y="4470361"/>
            <a:ext cx="3552600" cy="177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28"/>
              <a:buFont typeface="Arial"/>
              <a:buNone/>
            </a:pPr>
            <a:r>
              <a:rPr b="1" i="0" lang="en-US" sz="928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KEY DIVERGENCE · 2024-06-25</a:t>
            </a:r>
            <a:endParaRPr b="1" i="0" sz="928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4"/>
          <p:cNvSpPr txBox="1"/>
          <p:nvPr/>
        </p:nvSpPr>
        <p:spPr>
          <a:xfrm>
            <a:off x="7873552" y="4657810"/>
            <a:ext cx="3552600" cy="1608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2"/>
              <a:buFont typeface="Arial"/>
              <a:buNone/>
            </a:pPr>
            <a:r>
              <a:rPr b="0" i="0" lang="en-US" sz="1002" u="none" cap="none" strike="noStrike">
                <a:solidFill>
                  <a:srgbClr val="BF979E"/>
                </a:solidFill>
                <a:latin typeface="Calibri"/>
                <a:ea typeface="Calibri"/>
                <a:cs typeface="Calibri"/>
                <a:sym typeface="Calibri"/>
              </a:rPr>
              <a:t>The tight-bottleneck date, drawn from order window.</a:t>
            </a:r>
            <a:endParaRPr b="0" i="0" sz="1002" u="none" cap="none" strike="noStrike">
              <a:solidFill>
                <a:srgbClr val="BF979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4"/>
          <p:cNvSpPr/>
          <p:nvPr/>
        </p:nvSpPr>
        <p:spPr>
          <a:xfrm>
            <a:off x="7853425" y="4890261"/>
            <a:ext cx="1107000" cy="900300"/>
          </a:xfrm>
          <a:prstGeom prst="roundRect">
            <a:avLst>
              <a:gd fmla="val 5357" name="adj"/>
            </a:avLst>
          </a:prstGeom>
          <a:solidFill>
            <a:srgbClr val="462B30"/>
          </a:solidFill>
          <a:ln cap="flat" cmpd="sng" w="10725">
            <a:solidFill>
              <a:srgbClr val="5C3A4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7" name="Google Shape;147;p4"/>
          <p:cNvSpPr txBox="1"/>
          <p:nvPr/>
        </p:nvSpPr>
        <p:spPr>
          <a:xfrm>
            <a:off x="7876253" y="4938498"/>
            <a:ext cx="1035300" cy="1608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2"/>
              <a:buFont typeface="Arial"/>
              <a:buNone/>
            </a:pPr>
            <a:r>
              <a:rPr b="1" i="0" lang="en-US" sz="902" u="none" cap="none" strike="noStrike">
                <a:solidFill>
                  <a:srgbClr val="FEF9F1"/>
                </a:solidFill>
                <a:latin typeface="Calibri"/>
                <a:ea typeface="Calibri"/>
                <a:cs typeface="Calibri"/>
                <a:sym typeface="Calibri"/>
              </a:rPr>
              <a:t>QAOA (quantum)</a:t>
            </a:r>
            <a:endParaRPr b="1" i="0" sz="902" u="none" cap="none" strike="noStrike">
              <a:solidFill>
                <a:srgbClr val="FEF9F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4"/>
          <p:cNvSpPr txBox="1"/>
          <p:nvPr/>
        </p:nvSpPr>
        <p:spPr>
          <a:xfrm>
            <a:off x="7889127" y="5131443"/>
            <a:ext cx="1035300" cy="2253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97"/>
              <a:buFont typeface="Arial"/>
              <a:buNone/>
            </a:pPr>
            <a:r>
              <a:rPr b="1" i="0" lang="en-US" sz="1097" u="none" cap="none" strike="noStrike">
                <a:solidFill>
                  <a:srgbClr val="E68E9D"/>
                </a:solidFill>
                <a:latin typeface="Cambria"/>
                <a:ea typeface="Cambria"/>
                <a:cs typeface="Cambria"/>
                <a:sym typeface="Cambria"/>
              </a:rPr>
              <a:t>F1 = 1.000</a:t>
            </a:r>
            <a:endParaRPr b="1" i="0" sz="1097" u="none" cap="none" strike="noStrike">
              <a:solidFill>
                <a:srgbClr val="E68E9D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49" name="Google Shape;149;p4"/>
          <p:cNvSpPr txBox="1"/>
          <p:nvPr/>
        </p:nvSpPr>
        <p:spPr>
          <a:xfrm>
            <a:off x="7889127" y="5372624"/>
            <a:ext cx="1035300" cy="1608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2"/>
              <a:buFont typeface="Arial"/>
              <a:buNone/>
            </a:pPr>
            <a:r>
              <a:rPr b="0" i="0" lang="en-US" sz="802" u="none" cap="none" strike="noStrike">
                <a:solidFill>
                  <a:srgbClr val="D8B7BC"/>
                </a:solidFill>
                <a:latin typeface="Calibri"/>
                <a:ea typeface="Calibri"/>
                <a:cs typeface="Calibri"/>
                <a:sym typeface="Calibri"/>
              </a:rPr>
              <a:t>0.00% gap</a:t>
            </a:r>
            <a:endParaRPr b="0" i="0" sz="802" u="none" cap="none" strike="noStrike">
              <a:solidFill>
                <a:srgbClr val="D8B7BC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4"/>
          <p:cNvSpPr/>
          <p:nvPr/>
        </p:nvSpPr>
        <p:spPr>
          <a:xfrm>
            <a:off x="9076232" y="4890261"/>
            <a:ext cx="1107000" cy="900300"/>
          </a:xfrm>
          <a:prstGeom prst="roundRect">
            <a:avLst>
              <a:gd fmla="val 5357" name="adj"/>
            </a:avLst>
          </a:prstGeom>
          <a:solidFill>
            <a:srgbClr val="462B30"/>
          </a:solidFill>
          <a:ln cap="flat" cmpd="sng" w="10725">
            <a:solidFill>
              <a:srgbClr val="5C3A4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1" name="Google Shape;151;p4"/>
          <p:cNvSpPr txBox="1"/>
          <p:nvPr/>
        </p:nvSpPr>
        <p:spPr>
          <a:xfrm>
            <a:off x="9099060" y="4938498"/>
            <a:ext cx="1035300" cy="1608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2"/>
              <a:buFont typeface="Arial"/>
              <a:buNone/>
            </a:pPr>
            <a:r>
              <a:rPr b="1" i="0" lang="en-US" sz="902" u="none" cap="none" strike="noStrike">
                <a:solidFill>
                  <a:srgbClr val="FEF9F1"/>
                </a:solidFill>
                <a:latin typeface="Calibri"/>
                <a:ea typeface="Calibri"/>
                <a:cs typeface="Calibri"/>
                <a:sym typeface="Calibri"/>
              </a:rPr>
              <a:t>Baseline 2 (greedy)</a:t>
            </a:r>
            <a:endParaRPr b="1" i="0" sz="902" u="none" cap="none" strike="noStrike">
              <a:solidFill>
                <a:srgbClr val="FEF9F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4"/>
          <p:cNvSpPr txBox="1"/>
          <p:nvPr/>
        </p:nvSpPr>
        <p:spPr>
          <a:xfrm>
            <a:off x="9111934" y="5131443"/>
            <a:ext cx="1035300" cy="2253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97"/>
              <a:buFont typeface="Arial"/>
              <a:buNone/>
            </a:pPr>
            <a:r>
              <a:rPr b="1" i="0" lang="en-US" sz="1097" u="none" cap="none" strike="noStrike">
                <a:solidFill>
                  <a:srgbClr val="D4BD94"/>
                </a:solidFill>
                <a:latin typeface="Cambria"/>
                <a:ea typeface="Cambria"/>
                <a:cs typeface="Cambria"/>
                <a:sym typeface="Cambria"/>
              </a:rPr>
              <a:t>F1 = 0.400</a:t>
            </a:r>
            <a:endParaRPr b="1" i="0" sz="1097" u="none" cap="none" strike="noStrike">
              <a:solidFill>
                <a:srgbClr val="D4BD94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53" name="Google Shape;153;p4"/>
          <p:cNvSpPr txBox="1"/>
          <p:nvPr/>
        </p:nvSpPr>
        <p:spPr>
          <a:xfrm>
            <a:off x="9111934" y="5372624"/>
            <a:ext cx="1035300" cy="1608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2"/>
              <a:buFont typeface="Arial"/>
              <a:buNone/>
            </a:pPr>
            <a:r>
              <a:rPr b="0" i="0" lang="en-US" sz="802" u="none" cap="none" strike="noStrike">
                <a:solidFill>
                  <a:srgbClr val="D8B7BC"/>
                </a:solidFill>
                <a:latin typeface="Calibri"/>
                <a:ea typeface="Calibri"/>
                <a:cs typeface="Calibri"/>
                <a:sym typeface="Calibri"/>
              </a:rPr>
              <a:t>3.05% gap</a:t>
            </a:r>
            <a:endParaRPr b="0" i="0" sz="802" u="none" cap="none" strike="noStrike">
              <a:solidFill>
                <a:srgbClr val="D8B7BC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4"/>
          <p:cNvSpPr/>
          <p:nvPr/>
        </p:nvSpPr>
        <p:spPr>
          <a:xfrm>
            <a:off x="10299039" y="4890261"/>
            <a:ext cx="1107000" cy="900300"/>
          </a:xfrm>
          <a:prstGeom prst="roundRect">
            <a:avLst>
              <a:gd fmla="val 5357" name="adj"/>
            </a:avLst>
          </a:prstGeom>
          <a:solidFill>
            <a:srgbClr val="462B30"/>
          </a:solidFill>
          <a:ln cap="flat" cmpd="sng" w="10725">
            <a:solidFill>
              <a:srgbClr val="5C3A4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5" name="Google Shape;155;p4"/>
          <p:cNvSpPr txBox="1"/>
          <p:nvPr/>
        </p:nvSpPr>
        <p:spPr>
          <a:xfrm>
            <a:off x="10321867" y="4938498"/>
            <a:ext cx="1035300" cy="1608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2"/>
              <a:buFont typeface="Arial"/>
              <a:buNone/>
            </a:pPr>
            <a:r>
              <a:rPr b="1" i="0" lang="en-US" sz="902" u="none" cap="none" strike="noStrike">
                <a:solidFill>
                  <a:srgbClr val="FEF9F1"/>
                </a:solidFill>
                <a:latin typeface="Calibri"/>
                <a:ea typeface="Calibri"/>
                <a:cs typeface="Calibri"/>
                <a:sym typeface="Calibri"/>
              </a:rPr>
              <a:t>MILP (CBC)</a:t>
            </a:r>
            <a:endParaRPr b="1" i="0" sz="902" u="none" cap="none" strike="noStrike">
              <a:solidFill>
                <a:srgbClr val="FEF9F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4"/>
          <p:cNvSpPr txBox="1"/>
          <p:nvPr/>
        </p:nvSpPr>
        <p:spPr>
          <a:xfrm>
            <a:off x="10334741" y="5131443"/>
            <a:ext cx="1035300" cy="2253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97"/>
              <a:buFont typeface="Arial"/>
              <a:buNone/>
            </a:pPr>
            <a:r>
              <a:rPr b="1" i="0" lang="en-US" sz="1097" u="none" cap="none" strike="noStrike">
                <a:solidFill>
                  <a:schemeClr val="accent4"/>
                </a:solidFill>
                <a:latin typeface="Cambria"/>
                <a:ea typeface="Cambria"/>
                <a:cs typeface="Cambria"/>
                <a:sym typeface="Cambria"/>
              </a:rPr>
              <a:t>F1 = 0.200</a:t>
            </a:r>
            <a:endParaRPr b="1" i="0" sz="1097" u="none" cap="none" strike="noStrike">
              <a:solidFill>
                <a:schemeClr val="accent4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57" name="Google Shape;157;p4"/>
          <p:cNvSpPr txBox="1"/>
          <p:nvPr/>
        </p:nvSpPr>
        <p:spPr>
          <a:xfrm>
            <a:off x="548640" y="6355080"/>
            <a:ext cx="64008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A585E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7A585E"/>
                </a:solidFill>
                <a:latin typeface="Calibri"/>
                <a:ea typeface="Calibri"/>
                <a:cs typeface="Calibri"/>
                <a:sym typeface="Calibri"/>
              </a:rPr>
              <a:t>Nestlé × WISER 2026 · The Convergents</a:t>
            </a:r>
            <a:endParaRPr b="0" i="0" sz="1000" u="none" cap="none" strike="noStrike">
              <a:solidFill>
                <a:srgbClr val="2D181C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4"/>
          <p:cNvSpPr txBox="1"/>
          <p:nvPr/>
        </p:nvSpPr>
        <p:spPr>
          <a:xfrm>
            <a:off x="10334741" y="5372624"/>
            <a:ext cx="1035300" cy="1608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2"/>
              <a:buFont typeface="Arial"/>
              <a:buNone/>
            </a:pPr>
            <a:r>
              <a:rPr b="0" i="0" lang="en-US" sz="802" u="none" cap="none" strike="noStrike">
                <a:solidFill>
                  <a:srgbClr val="D8B7BC"/>
                </a:solidFill>
                <a:latin typeface="Calibri"/>
                <a:ea typeface="Calibri"/>
                <a:cs typeface="Calibri"/>
                <a:sym typeface="Calibri"/>
              </a:rPr>
              <a:t>4.18% gap</a:t>
            </a:r>
            <a:endParaRPr b="0" i="0" sz="802" u="none" cap="none" strike="noStrike">
              <a:solidFill>
                <a:srgbClr val="D8B7BC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4"/>
          <p:cNvSpPr txBox="1"/>
          <p:nvPr/>
        </p:nvSpPr>
        <p:spPr>
          <a:xfrm>
            <a:off x="11155680" y="6355080"/>
            <a:ext cx="457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A585E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7A585E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000" u="none" cap="none" strike="noStrike">
              <a:solidFill>
                <a:srgbClr val="2D181C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4"/>
          <p:cNvSpPr txBox="1"/>
          <p:nvPr/>
        </p:nvSpPr>
        <p:spPr>
          <a:xfrm>
            <a:off x="7706682" y="1496945"/>
            <a:ext cx="3657000" cy="19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8150" lIns="56300" spcFirstLastPara="1" rIns="56300" wrap="square" tIns="281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D181C"/>
              </a:buClr>
              <a:buSzPts val="801"/>
              <a:buFont typeface="Calibri"/>
              <a:buNone/>
            </a:pPr>
            <a:r>
              <a:rPr b="1" i="0" lang="en-US" sz="1101" u="none" cap="none" strike="noStrike">
                <a:solidFill>
                  <a:srgbClr val="2D181C"/>
                </a:solidFill>
                <a:latin typeface="Calibri"/>
                <a:ea typeface="Calibri"/>
                <a:cs typeface="Calibri"/>
                <a:sym typeface="Calibri"/>
              </a:rPr>
              <a:t>F1 vs. certified optimum, by planning date</a:t>
            </a:r>
            <a:endParaRPr b="0" i="0" sz="1101" u="none" cap="none" strike="noStrike">
              <a:solidFill>
                <a:srgbClr val="2D181C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61" name="Google Shape;161;p4" title="fig1_objective_and_f1.png"/>
          <p:cNvPicPr preferRelativeResize="0"/>
          <p:nvPr/>
        </p:nvPicPr>
        <p:blipFill rotWithShape="1">
          <a:blip r:embed="rId3">
            <a:alphaModFix/>
          </a:blip>
          <a:srcRect b="0" l="50624" r="835" t="5123"/>
          <a:stretch/>
        </p:blipFill>
        <p:spPr>
          <a:xfrm>
            <a:off x="7735875" y="1738250"/>
            <a:ext cx="3656998" cy="2524032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4"/>
          <p:cNvSpPr/>
          <p:nvPr/>
        </p:nvSpPr>
        <p:spPr>
          <a:xfrm>
            <a:off x="10872650" y="1694350"/>
            <a:ext cx="599700" cy="2154000"/>
          </a:xfrm>
          <a:prstGeom prst="roundRect">
            <a:avLst>
              <a:gd fmla="val 3810" name="adj"/>
            </a:avLst>
          </a:prstGeom>
          <a:noFill/>
          <a:ln cap="flat" cmpd="sng" w="13700">
            <a:solidFill>
              <a:srgbClr val="A02D40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56300" lIns="56300" spcFirstLastPara="1" rIns="56300" wrap="square" tIns="563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EF9F1"/>
        </a:solidFill>
      </p:bgPr>
    </p:bg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8" name="Google Shape;168;p5"/>
          <p:cNvGrpSpPr/>
          <p:nvPr/>
        </p:nvGrpSpPr>
        <p:grpSpPr>
          <a:xfrm>
            <a:off x="710485" y="400050"/>
            <a:ext cx="11125200" cy="736213"/>
            <a:chOff x="0" y="57150"/>
            <a:chExt cx="11125200" cy="736213"/>
          </a:xfrm>
        </p:grpSpPr>
        <p:sp>
          <p:nvSpPr>
            <p:cNvPr id="169" name="Google Shape;169;p5"/>
            <p:cNvSpPr txBox="1"/>
            <p:nvPr/>
          </p:nvSpPr>
          <p:spPr>
            <a:xfrm>
              <a:off x="0" y="57150"/>
              <a:ext cx="111252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1" i="0" lang="en-US" sz="1600" u="none" cap="none" strike="noStrike">
                  <a:solidFill>
                    <a:srgbClr val="8F3645"/>
                  </a:solidFill>
                  <a:latin typeface="Calibri"/>
                  <a:ea typeface="Calibri"/>
                  <a:cs typeface="Calibri"/>
                  <a:sym typeface="Calibri"/>
                </a:rPr>
                <a:t> LIMITATIONS + INSIGHTS</a:t>
              </a:r>
              <a:endParaRPr b="1" i="0" sz="1600" u="none" cap="none" strike="noStrike">
                <a:solidFill>
                  <a:srgbClr val="8F3645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0" name="Google Shape;170;p5"/>
            <p:cNvSpPr txBox="1"/>
            <p:nvPr/>
          </p:nvSpPr>
          <p:spPr>
            <a:xfrm>
              <a:off x="0" y="412363"/>
              <a:ext cx="111252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005"/>
                <a:buFont typeface="Arial"/>
                <a:buNone/>
              </a:pPr>
              <a:r>
                <a:rPr b="1" i="0" lang="en-US" sz="3005" u="none" cap="none" strike="noStrike">
                  <a:solidFill>
                    <a:srgbClr val="2D181C"/>
                  </a:solidFill>
                  <a:latin typeface="Cambria"/>
                  <a:ea typeface="Cambria"/>
                  <a:cs typeface="Cambria"/>
                  <a:sym typeface="Cambria"/>
                </a:rPr>
                <a:t>Honest limits: Noise, Ceiling, Variance</a:t>
              </a:r>
              <a:endParaRPr b="1" i="0" sz="3005" u="none" cap="none" strike="noStrike">
                <a:solidFill>
                  <a:srgbClr val="2D181C"/>
                </a:solidFill>
                <a:latin typeface="Cambria"/>
                <a:ea typeface="Cambria"/>
                <a:cs typeface="Cambria"/>
                <a:sym typeface="Cambria"/>
              </a:endParaRPr>
            </a:p>
          </p:txBody>
        </p:sp>
      </p:grpSp>
      <p:grpSp>
        <p:nvGrpSpPr>
          <p:cNvPr id="171" name="Google Shape;171;p5"/>
          <p:cNvGrpSpPr/>
          <p:nvPr/>
        </p:nvGrpSpPr>
        <p:grpSpPr>
          <a:xfrm>
            <a:off x="533400" y="6362700"/>
            <a:ext cx="11125200" cy="228600"/>
            <a:chOff x="0" y="0"/>
            <a:chExt cx="11125200" cy="228600"/>
          </a:xfrm>
        </p:grpSpPr>
        <p:sp>
          <p:nvSpPr>
            <p:cNvPr id="172" name="Google Shape;172;p5"/>
            <p:cNvSpPr txBox="1"/>
            <p:nvPr/>
          </p:nvSpPr>
          <p:spPr>
            <a:xfrm>
              <a:off x="0" y="0"/>
              <a:ext cx="6400800" cy="22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-US" sz="1000" u="none" cap="none" strike="noStrike">
                  <a:solidFill>
                    <a:srgbClr val="7A585E"/>
                  </a:solidFill>
                  <a:latin typeface="Calibri"/>
                  <a:ea typeface="Calibri"/>
                  <a:cs typeface="Calibri"/>
                  <a:sym typeface="Calibri"/>
                </a:rPr>
                <a:t>Nestlé × WISER 2026 · The Convergents</a:t>
              </a:r>
              <a:endParaRPr b="0" i="0" sz="1000" u="none" cap="none" strike="noStrike">
                <a:solidFill>
                  <a:srgbClr val="7A585E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3" name="Google Shape;173;p5"/>
            <p:cNvSpPr txBox="1"/>
            <p:nvPr/>
          </p:nvSpPr>
          <p:spPr>
            <a:xfrm>
              <a:off x="10668000" y="0"/>
              <a:ext cx="457200" cy="22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-US" sz="1000" u="none" cap="none" strike="noStrike">
                  <a:solidFill>
                    <a:srgbClr val="7A585E"/>
                  </a:solidFill>
                  <a:latin typeface="Calibri"/>
                  <a:ea typeface="Calibri"/>
                  <a:cs typeface="Calibri"/>
                  <a:sym typeface="Calibri"/>
                </a:rPr>
                <a:t>5</a:t>
              </a:r>
              <a:endParaRPr b="0" i="0" sz="1000" u="none" cap="none" strike="noStrike">
                <a:solidFill>
                  <a:srgbClr val="7A585E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74" name="Google Shape;174;p5"/>
          <p:cNvSpPr/>
          <p:nvPr/>
        </p:nvSpPr>
        <p:spPr>
          <a:xfrm>
            <a:off x="766631" y="1415915"/>
            <a:ext cx="5205900" cy="2248500"/>
          </a:xfrm>
          <a:prstGeom prst="round2DiagRect">
            <a:avLst>
              <a:gd fmla="val 17500" name="adj1"/>
              <a:gd fmla="val 0" name="adj2"/>
            </a:avLst>
          </a:prstGeom>
          <a:solidFill>
            <a:srgbClr val="FFFFFF"/>
          </a:solidFill>
          <a:ln cap="flat" cmpd="sng" w="12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3550" lIns="87150" spcFirstLastPara="1" rIns="87150" wrap="square" tIns="435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34"/>
              <a:buFont typeface="Arial"/>
              <a:buNone/>
            </a:pPr>
            <a:r>
              <a:t/>
            </a:r>
            <a:endParaRPr b="0" i="0" sz="1334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5" name="Google Shape;175;p5"/>
          <p:cNvSpPr txBox="1"/>
          <p:nvPr/>
        </p:nvSpPr>
        <p:spPr>
          <a:xfrm>
            <a:off x="1010684" y="1572791"/>
            <a:ext cx="4717800" cy="1679700"/>
          </a:xfrm>
          <a:prstGeom prst="rect">
            <a:avLst/>
          </a:prstGeom>
          <a:noFill/>
          <a:ln>
            <a:noFill/>
          </a:ln>
        </p:spPr>
        <p:txBody>
          <a:bodyPr anchorCtr="0" anchor="t" bIns="43550" lIns="87150" spcFirstLastPara="1" rIns="87150" wrap="square" tIns="435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39"/>
              <a:buFont typeface="Arial"/>
              <a:buNone/>
            </a:pPr>
            <a:r>
              <a:rPr b="1" i="0" lang="en-US" sz="1334" u="none" cap="none" strike="noStrike">
                <a:solidFill>
                  <a:srgbClr val="8F3645"/>
                </a:solidFill>
                <a:latin typeface="Calibri"/>
                <a:ea typeface="Calibri"/>
                <a:cs typeface="Calibri"/>
                <a:sym typeface="Calibri"/>
              </a:rPr>
              <a:t>NOISE SENSITIVITY</a:t>
            </a:r>
            <a:endParaRPr b="0" i="0" sz="143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953"/>
              </a:spcBef>
              <a:spcAft>
                <a:spcPts val="0"/>
              </a:spcAft>
              <a:buClr>
                <a:srgbClr val="000000"/>
              </a:buClr>
              <a:buSzPts val="1430"/>
              <a:buFont typeface="Arial"/>
              <a:buNone/>
            </a:pPr>
            <a:r>
              <a:rPr b="1" i="0" lang="en-US" sz="1430" u="none" cap="none" strike="noStrike">
                <a:solidFill>
                  <a:srgbClr val="3E2227"/>
                </a:solidFill>
                <a:latin typeface="Calibri"/>
                <a:ea typeface="Calibri"/>
                <a:cs typeface="Calibri"/>
                <a:sym typeface="Calibri"/>
              </a:rPr>
              <a:t>100%</a:t>
            </a:r>
            <a:r>
              <a:rPr b="0" i="0" lang="en-US" sz="1430" u="none" cap="none" strike="noStrike">
                <a:solidFill>
                  <a:srgbClr val="5A3C41"/>
                </a:solidFill>
                <a:latin typeface="Calibri"/>
                <a:ea typeface="Calibri"/>
                <a:cs typeface="Calibri"/>
                <a:sym typeface="Calibri"/>
              </a:rPr>
              <a:t> → </a:t>
            </a:r>
            <a:r>
              <a:rPr b="1" i="0" lang="en-US" sz="1430" u="none" cap="none" strike="noStrike">
                <a:solidFill>
                  <a:srgbClr val="5A3239"/>
                </a:solidFill>
                <a:latin typeface="Calibri"/>
                <a:ea typeface="Calibri"/>
                <a:cs typeface="Calibri"/>
                <a:sym typeface="Calibri"/>
              </a:rPr>
              <a:t>94.1%</a:t>
            </a:r>
            <a:r>
              <a:rPr b="0" i="0" lang="en-US" sz="1430" u="none" cap="none" strike="noStrike">
                <a:solidFill>
                  <a:srgbClr val="5A3C41"/>
                </a:solidFill>
                <a:latin typeface="Calibri"/>
                <a:ea typeface="Calibri"/>
                <a:cs typeface="Calibri"/>
                <a:sym typeface="Calibri"/>
              </a:rPr>
              <a:t> → </a:t>
            </a:r>
            <a:r>
              <a:rPr b="1" i="0" lang="en-US" sz="1430" u="none" cap="none" strike="noStrike">
                <a:solidFill>
                  <a:srgbClr val="8F3645"/>
                </a:solidFill>
                <a:latin typeface="Calibri"/>
                <a:ea typeface="Calibri"/>
                <a:cs typeface="Calibri"/>
                <a:sym typeface="Calibri"/>
              </a:rPr>
              <a:t>77.3%</a:t>
            </a:r>
            <a:r>
              <a:rPr b="0" i="0" lang="en-US" sz="1430" u="none" cap="none" strike="noStrike">
                <a:solidFill>
                  <a:srgbClr val="5A3C41"/>
                </a:solidFill>
                <a:latin typeface="Calibri"/>
                <a:ea typeface="Calibri"/>
                <a:cs typeface="Calibri"/>
                <a:sym typeface="Calibri"/>
              </a:rPr>
              <a:t> → </a:t>
            </a:r>
            <a:r>
              <a:rPr b="1" i="0" lang="en-US" sz="1430" u="none" cap="none" strike="noStrike">
                <a:solidFill>
                  <a:srgbClr val="A02D40"/>
                </a:solidFill>
                <a:latin typeface="Calibri"/>
                <a:ea typeface="Calibri"/>
                <a:cs typeface="Calibri"/>
                <a:sym typeface="Calibri"/>
              </a:rPr>
              <a:t>37.5%</a:t>
            </a:r>
            <a:endParaRPr b="0" i="0" sz="1334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191"/>
              </a:spcBef>
              <a:spcAft>
                <a:spcPts val="0"/>
              </a:spcAft>
              <a:buClr>
                <a:srgbClr val="000000"/>
              </a:buClr>
              <a:buSzPts val="1001"/>
              <a:buFont typeface="Arial"/>
              <a:buNone/>
            </a:pPr>
            <a:r>
              <a:rPr b="0" i="0" lang="en-US" sz="1001" u="none" cap="none" strike="noStrike">
                <a:solidFill>
                  <a:srgbClr val="7A585E"/>
                </a:solidFill>
                <a:latin typeface="Calibri"/>
                <a:ea typeface="Calibri"/>
                <a:cs typeface="Calibri"/>
                <a:sym typeface="Calibri"/>
              </a:rPr>
              <a:t>in-subspace shots at 0%, 0.1%, 0.5%, 2% gate error (12-qubit test)</a:t>
            </a:r>
            <a:endParaRPr b="0" i="0" sz="143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953"/>
              </a:spcBef>
              <a:spcAft>
                <a:spcPts val="0"/>
              </a:spcAft>
              <a:buClr>
                <a:srgbClr val="000000"/>
              </a:buClr>
              <a:buSzPts val="1048"/>
              <a:buFont typeface="Arial"/>
              <a:buNone/>
            </a:pPr>
            <a:r>
              <a:rPr b="0" i="0" lang="en-US" sz="1048" u="none" cap="none" strike="noStrike">
                <a:solidFill>
                  <a:srgbClr val="5A3C41"/>
                </a:solidFill>
                <a:latin typeface="Calibri"/>
                <a:ea typeface="Calibri"/>
                <a:cs typeface="Calibri"/>
                <a:sym typeface="Calibri"/>
              </a:rPr>
              <a:t>Fully-feasible shots fall in step </a:t>
            </a:r>
            <a:r>
              <a:rPr b="1" i="0" lang="en-US" sz="1048" u="none" cap="none" strike="noStrike">
                <a:solidFill>
                  <a:srgbClr val="2D181C"/>
                </a:solidFill>
                <a:latin typeface="Calibri"/>
                <a:ea typeface="Calibri"/>
                <a:cs typeface="Calibri"/>
                <a:sym typeface="Calibri"/>
              </a:rPr>
              <a:t>- from </a:t>
            </a:r>
            <a:r>
              <a:rPr b="1" i="0" lang="en-US" sz="1048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≈56-71% ideal to ≈19-26%</a:t>
            </a:r>
            <a:r>
              <a:rPr b="0" i="0" lang="en-US" sz="1048" u="none" cap="none" strike="noStrike">
                <a:solidFill>
                  <a:srgbClr val="5A3C41"/>
                </a:solidFill>
                <a:latin typeface="Calibri"/>
                <a:ea typeface="Calibri"/>
                <a:cs typeface="Calibri"/>
                <a:sym typeface="Calibri"/>
              </a:rPr>
              <a:t> at the highest error rate tested.</a:t>
            </a:r>
            <a:endParaRPr b="0" i="0" sz="1048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762"/>
              </a:spcBef>
              <a:spcAft>
                <a:spcPts val="0"/>
              </a:spcAft>
              <a:buClr>
                <a:srgbClr val="000000"/>
              </a:buClr>
              <a:buSzPts val="1048"/>
              <a:buFont typeface="Arial"/>
              <a:buNone/>
            </a:pPr>
            <a:r>
              <a:rPr b="0" i="0" lang="en-US" sz="1048" u="none" cap="none" strike="noStrike">
                <a:solidFill>
                  <a:srgbClr val="7A585E"/>
                </a:solidFill>
                <a:latin typeface="Calibri"/>
                <a:ea typeface="Calibri"/>
                <a:cs typeface="Calibri"/>
                <a:sym typeface="Calibri"/>
              </a:rPr>
              <a:t>The XY mixer's constraint-preservation holds only under ideal, noiseless execution - these are simulator-best-case results, not hardware-ready ones.</a:t>
            </a:r>
            <a:endParaRPr b="0" i="0" sz="1048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6" name="Google Shape;176;p5"/>
          <p:cNvSpPr/>
          <p:nvPr/>
        </p:nvSpPr>
        <p:spPr>
          <a:xfrm>
            <a:off x="6251666" y="1377927"/>
            <a:ext cx="5205900" cy="2248500"/>
          </a:xfrm>
          <a:prstGeom prst="round2DiagRect">
            <a:avLst>
              <a:gd fmla="val 17500" name="adj1"/>
              <a:gd fmla="val 0" name="adj2"/>
            </a:avLst>
          </a:prstGeom>
          <a:solidFill>
            <a:srgbClr val="FFFFFF"/>
          </a:solidFill>
          <a:ln cap="flat" cmpd="sng" w="12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3550" lIns="87125" spcFirstLastPara="1" rIns="87125" wrap="square" tIns="435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34"/>
              <a:buFont typeface="Arial"/>
              <a:buNone/>
            </a:pPr>
            <a:r>
              <a:t/>
            </a:r>
            <a:endParaRPr b="0" i="0" sz="1334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7" name="Google Shape;177;p5"/>
          <p:cNvSpPr txBox="1"/>
          <p:nvPr/>
        </p:nvSpPr>
        <p:spPr>
          <a:xfrm>
            <a:off x="6495684" y="1534796"/>
            <a:ext cx="4717800" cy="14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43550" lIns="87125" spcFirstLastPara="1" rIns="87125" wrap="square" tIns="435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39"/>
              <a:buFont typeface="Arial"/>
              <a:buNone/>
            </a:pPr>
            <a:r>
              <a:rPr b="1" i="0" lang="en-US" sz="1334" u="none" cap="none" strike="noStrike">
                <a:solidFill>
                  <a:srgbClr val="8F3645"/>
                </a:solidFill>
                <a:latin typeface="Calibri"/>
                <a:ea typeface="Calibri"/>
                <a:cs typeface="Calibri"/>
                <a:sym typeface="Calibri"/>
              </a:rPr>
              <a:t>SIMULATOR CEILING</a:t>
            </a:r>
            <a:endParaRPr b="0" i="0" sz="1334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953"/>
              </a:spcBef>
              <a:spcAft>
                <a:spcPts val="0"/>
              </a:spcAft>
              <a:buClr>
                <a:srgbClr val="000000"/>
              </a:buClr>
              <a:buSzPts val="1144"/>
              <a:buFont typeface="Arial"/>
              <a:buNone/>
            </a:pPr>
            <a:r>
              <a:rPr b="1" i="0" lang="en-US" sz="1144" u="none" cap="none" strike="noStrike">
                <a:solidFill>
                  <a:srgbClr val="2D181C"/>
                </a:solidFill>
                <a:latin typeface="Calibri"/>
                <a:ea typeface="Calibri"/>
                <a:cs typeface="Calibri"/>
                <a:sym typeface="Calibri"/>
              </a:rPr>
              <a:t>State-vector simulation caps at </a:t>
            </a:r>
            <a:r>
              <a:rPr b="1" i="0" lang="en-US" sz="1144" u="none" cap="none" strike="noStrike">
                <a:solidFill>
                  <a:srgbClr val="8F3645"/>
                </a:solidFill>
                <a:latin typeface="Calibri"/>
                <a:ea typeface="Calibri"/>
                <a:cs typeface="Calibri"/>
                <a:sym typeface="Calibri"/>
              </a:rPr>
              <a:t>~25 qubits</a:t>
            </a:r>
            <a:r>
              <a:rPr b="1" i="0" lang="en-US" sz="1144" u="none" cap="none" strike="noStrike">
                <a:solidFill>
                  <a:srgbClr val="2D181C"/>
                </a:solidFill>
                <a:latin typeface="Calibri"/>
                <a:ea typeface="Calibri"/>
                <a:cs typeface="Calibri"/>
                <a:sym typeface="Calibri"/>
              </a:rPr>
              <a:t> (5-6 orders).</a:t>
            </a:r>
            <a:endParaRPr b="0" i="0" sz="1334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762"/>
              </a:spcBef>
              <a:spcAft>
                <a:spcPts val="0"/>
              </a:spcAft>
              <a:buClr>
                <a:srgbClr val="000000"/>
              </a:buClr>
              <a:buSzPts val="1048"/>
              <a:buFont typeface="Arial"/>
              <a:buNone/>
            </a:pPr>
            <a:r>
              <a:rPr b="0" i="0" lang="en-US" sz="1048" u="none" cap="none" strike="noStrike">
                <a:solidFill>
                  <a:srgbClr val="5A3C41"/>
                </a:solidFill>
                <a:latin typeface="Calibri"/>
                <a:ea typeface="Calibri"/>
                <a:cs typeface="Calibri"/>
                <a:sym typeface="Calibri"/>
              </a:rPr>
              <a:t>The full 82-order pool would need 328 qubits - linear growth, but past our reach today.</a:t>
            </a:r>
            <a:endParaRPr b="0" i="0" sz="1048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762"/>
              </a:spcBef>
              <a:spcAft>
                <a:spcPts val="0"/>
              </a:spcAft>
              <a:buClr>
                <a:srgbClr val="000000"/>
              </a:buClr>
              <a:buSzPts val="1048"/>
              <a:buFont typeface="Arial"/>
              <a:buNone/>
            </a:pPr>
            <a:r>
              <a:rPr b="0" i="0" lang="en-US" sz="1048" u="none" cap="none" strike="noStrike">
                <a:solidFill>
                  <a:srgbClr val="7A585E"/>
                </a:solidFill>
                <a:latin typeface="Calibri"/>
                <a:ea typeface="Calibri"/>
                <a:cs typeface="Calibri"/>
                <a:sym typeface="Calibri"/>
              </a:rPr>
              <a:t>Exact simulation complexity scales exponentially with qubit count, imposing strict boundary limits for classical validation.</a:t>
            </a:r>
            <a:endParaRPr b="0" i="0" sz="1048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8" name="Google Shape;178;p5"/>
          <p:cNvSpPr/>
          <p:nvPr/>
        </p:nvSpPr>
        <p:spPr>
          <a:xfrm>
            <a:off x="734434" y="3894651"/>
            <a:ext cx="5205900" cy="2248500"/>
          </a:xfrm>
          <a:prstGeom prst="round2DiagRect">
            <a:avLst>
              <a:gd fmla="val 17500" name="adj1"/>
              <a:gd fmla="val 0" name="adj2"/>
            </a:avLst>
          </a:prstGeom>
          <a:solidFill>
            <a:srgbClr val="FFFFFF"/>
          </a:solidFill>
          <a:ln cap="flat" cmpd="sng" w="12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3550" lIns="87125" spcFirstLastPara="1" rIns="87125" wrap="square" tIns="435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34"/>
              <a:buFont typeface="Arial"/>
              <a:buNone/>
            </a:pPr>
            <a:r>
              <a:t/>
            </a:r>
            <a:endParaRPr b="0" i="0" sz="1334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9" name="Google Shape;179;p5"/>
          <p:cNvSpPr txBox="1"/>
          <p:nvPr/>
        </p:nvSpPr>
        <p:spPr>
          <a:xfrm>
            <a:off x="978452" y="4051520"/>
            <a:ext cx="4717800" cy="1295700"/>
          </a:xfrm>
          <a:prstGeom prst="rect">
            <a:avLst/>
          </a:prstGeom>
          <a:noFill/>
          <a:ln>
            <a:noFill/>
          </a:ln>
        </p:spPr>
        <p:txBody>
          <a:bodyPr anchorCtr="0" anchor="t" bIns="43550" lIns="87125" spcFirstLastPara="1" rIns="87125" wrap="square" tIns="435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39"/>
              <a:buFont typeface="Arial"/>
              <a:buNone/>
            </a:pPr>
            <a:r>
              <a:rPr b="1" i="0" lang="en-US" sz="1334" u="none" cap="none" strike="noStrike">
                <a:solidFill>
                  <a:srgbClr val="8F3645"/>
                </a:solidFill>
                <a:latin typeface="Calibri"/>
                <a:ea typeface="Calibri"/>
                <a:cs typeface="Calibri"/>
                <a:sym typeface="Calibri"/>
              </a:rPr>
              <a:t>MULTI-SEED VARIANCE</a:t>
            </a:r>
            <a:endParaRPr b="0" i="0" sz="143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953"/>
              </a:spcBef>
              <a:spcAft>
                <a:spcPts val="0"/>
              </a:spcAft>
              <a:buClr>
                <a:srgbClr val="000000"/>
              </a:buClr>
              <a:buSzPts val="1144"/>
              <a:buFont typeface="Arial"/>
              <a:buNone/>
            </a:pPr>
            <a:r>
              <a:rPr b="1" i="0" lang="en-US" sz="1144" u="none" cap="none" strike="noStrike">
                <a:solidFill>
                  <a:srgbClr val="2D181C"/>
                </a:solidFill>
                <a:latin typeface="Calibri"/>
                <a:ea typeface="Calibri"/>
                <a:cs typeface="Calibri"/>
                <a:sym typeface="Calibri"/>
              </a:rPr>
              <a:t>F1 standard deviation peaked at </a:t>
            </a:r>
            <a:r>
              <a:rPr b="1" i="0" lang="en-US" sz="1144" u="none" cap="none" strike="noStrik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~0.05 (recall ~0.09)</a:t>
            </a:r>
            <a:r>
              <a:rPr b="1" i="0" lang="en-US" sz="1144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on 06-19 and 06-21.</a:t>
            </a:r>
            <a:endParaRPr b="1" i="0" sz="1144" u="none" cap="none" strike="noStrike">
              <a:solidFill>
                <a:srgbClr val="8F3645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762"/>
              </a:spcBef>
              <a:spcAft>
                <a:spcPts val="0"/>
              </a:spcAft>
              <a:buClr>
                <a:srgbClr val="000000"/>
              </a:buClr>
              <a:buSzPts val="1048"/>
              <a:buFont typeface="Arial"/>
              <a:buNone/>
            </a:pPr>
            <a:r>
              <a:rPr b="0" i="0" lang="en-US" sz="1048" u="none" cap="none" strike="noStrike">
                <a:solidFill>
                  <a:srgbClr val="5A3C41"/>
                </a:solidFill>
                <a:latin typeface="Calibri"/>
                <a:ea typeface="Calibri"/>
                <a:cs typeface="Calibri"/>
                <a:sym typeface="Calibri"/>
              </a:rPr>
              <a:t>Across seeds {1, 7, 13, 42, 101} performance varies non-trivially.</a:t>
            </a:r>
            <a:endParaRPr b="0" i="0" sz="1048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191"/>
              </a:spcBef>
              <a:spcAft>
                <a:spcPts val="0"/>
              </a:spcAft>
              <a:buClr>
                <a:srgbClr val="000000"/>
              </a:buClr>
              <a:buSzPts val="1048"/>
              <a:buFont typeface="Arial"/>
              <a:buNone/>
            </a:pPr>
            <a:r>
              <a:rPr b="1" i="0" lang="en-US" sz="1048" u="none" cap="none" strike="noStrike">
                <a:solidFill>
                  <a:srgbClr val="2D181C"/>
                </a:solidFill>
                <a:latin typeface="Calibri"/>
                <a:ea typeface="Calibri"/>
                <a:cs typeface="Calibri"/>
                <a:sym typeface="Calibri"/>
              </a:rPr>
              <a:t>QAOA is not seed-invariant even noiseless.</a:t>
            </a:r>
            <a:endParaRPr b="0" i="0" sz="1048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762"/>
              </a:spcBef>
              <a:spcAft>
                <a:spcPts val="0"/>
              </a:spcAft>
              <a:buClr>
                <a:srgbClr val="000000"/>
              </a:buClr>
              <a:buSzPts val="1048"/>
              <a:buFont typeface="Arial"/>
              <a:buNone/>
            </a:pPr>
            <a:r>
              <a:rPr b="0" i="0" lang="en-US" sz="1048" u="none" cap="none" strike="noStrike">
                <a:solidFill>
                  <a:schemeClr val="accent5"/>
                </a:solidFill>
                <a:latin typeface="Calibri"/>
                <a:ea typeface="Calibri"/>
                <a:cs typeface="Calibri"/>
                <a:sym typeface="Calibri"/>
              </a:rPr>
              <a:t>Requires multi-seed benchmarking to check stability in operational deployments.</a:t>
            </a:r>
            <a:endParaRPr b="0" i="0" sz="1048" u="none" cap="none" strike="noStrike">
              <a:solidFill>
                <a:srgbClr val="7A585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5"/>
          <p:cNvSpPr/>
          <p:nvPr/>
        </p:nvSpPr>
        <p:spPr>
          <a:xfrm>
            <a:off x="6203295" y="3832247"/>
            <a:ext cx="5205900" cy="2248500"/>
          </a:xfrm>
          <a:prstGeom prst="round2DiagRect">
            <a:avLst>
              <a:gd fmla="val 17500" name="adj1"/>
              <a:gd fmla="val 0" name="adj2"/>
            </a:avLst>
          </a:prstGeom>
          <a:solidFill>
            <a:srgbClr val="FFFFFF"/>
          </a:solidFill>
          <a:ln cap="flat" cmpd="sng" w="12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3550" lIns="87125" spcFirstLastPara="1" rIns="87125" wrap="square" tIns="435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34"/>
              <a:buFont typeface="Arial"/>
              <a:buNone/>
            </a:pPr>
            <a:r>
              <a:t/>
            </a:r>
            <a:endParaRPr b="0" i="0" sz="1334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1" name="Google Shape;181;p5"/>
          <p:cNvSpPr txBox="1"/>
          <p:nvPr/>
        </p:nvSpPr>
        <p:spPr>
          <a:xfrm>
            <a:off x="6447313" y="3989116"/>
            <a:ext cx="4717800" cy="18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3550" lIns="87125" spcFirstLastPara="1" rIns="87125" wrap="square" tIns="435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39"/>
              <a:buFont typeface="Arial"/>
              <a:buNone/>
            </a:pPr>
            <a:r>
              <a:rPr b="1" i="0" lang="en-US" sz="1334" u="none" cap="none" strike="noStrike">
                <a:solidFill>
                  <a:srgbClr val="8F3645"/>
                </a:solidFill>
                <a:latin typeface="Calibri"/>
                <a:ea typeface="Calibri"/>
                <a:cs typeface="Calibri"/>
                <a:sym typeface="Calibri"/>
              </a:rPr>
              <a:t>WHAT'S PRACTICAL TODAY</a:t>
            </a:r>
            <a:endParaRPr b="0" i="0" sz="143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953"/>
              </a:spcBef>
              <a:spcAft>
                <a:spcPts val="0"/>
              </a:spcAft>
              <a:buClr>
                <a:srgbClr val="000000"/>
              </a:buClr>
              <a:buSzPts val="1191"/>
              <a:buFont typeface="Arial"/>
              <a:buNone/>
            </a:pPr>
            <a:r>
              <a:rPr b="1" i="0" lang="en-US" sz="1191" u="none" cap="none" strike="noStrike">
                <a:solidFill>
                  <a:srgbClr val="2D181C"/>
                </a:solidFill>
                <a:latin typeface="Calibri"/>
                <a:ea typeface="Calibri"/>
                <a:cs typeface="Calibri"/>
                <a:sym typeface="Calibri"/>
              </a:rPr>
              <a:t>MILP is the arm we would deploy now.</a:t>
            </a:r>
            <a:endParaRPr b="0" i="0" sz="1334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762"/>
              </a:spcBef>
              <a:spcAft>
                <a:spcPts val="0"/>
              </a:spcAft>
              <a:buClr>
                <a:srgbClr val="000000"/>
              </a:buClr>
              <a:buSzPts val="1048"/>
              <a:buFont typeface="Arial"/>
              <a:buNone/>
            </a:pPr>
            <a:r>
              <a:rPr b="0" i="0" lang="en-US" sz="1048" u="none" cap="none" strike="noStrike">
                <a:solidFill>
                  <a:srgbClr val="5A3C41"/>
                </a:solidFill>
                <a:latin typeface="Calibri"/>
                <a:ea typeface="Calibri"/>
                <a:cs typeface="Calibri"/>
                <a:sym typeface="Calibri"/>
              </a:rPr>
              <a:t>Deterministic, </a:t>
            </a:r>
            <a:r>
              <a:rPr b="1" i="0" lang="en-US" sz="1048" u="none" cap="none" strike="noStrike">
                <a:solidFill>
                  <a:srgbClr val="2D181C"/>
                </a:solidFill>
                <a:latin typeface="Calibri"/>
                <a:ea typeface="Calibri"/>
                <a:cs typeface="Calibri"/>
                <a:sym typeface="Calibri"/>
              </a:rPr>
              <a:t>15-20× faster</a:t>
            </a:r>
            <a:r>
              <a:rPr b="0" i="0" lang="en-US" sz="1048" u="none" cap="none" strike="noStrike">
                <a:solidFill>
                  <a:srgbClr val="5A3C41"/>
                </a:solidFill>
                <a:latin typeface="Calibri"/>
                <a:ea typeface="Calibri"/>
                <a:cs typeface="Calibri"/>
                <a:sym typeface="Calibri"/>
              </a:rPr>
              <a:t>, no qubit ceiling, and stays within </a:t>
            </a:r>
            <a:r>
              <a:rPr b="1" i="0" lang="en-US" sz="1048" u="none" cap="none" strike="noStrike">
                <a:solidFill>
                  <a:srgbClr val="2D181C"/>
                </a:solidFill>
                <a:latin typeface="Calibri"/>
                <a:ea typeface="Calibri"/>
                <a:cs typeface="Calibri"/>
                <a:sym typeface="Calibri"/>
              </a:rPr>
              <a:t>0.2-4.2% of optimal</a:t>
            </a:r>
            <a:r>
              <a:rPr b="0" i="0" lang="en-US" sz="1048" u="none" cap="none" strike="noStrike">
                <a:solidFill>
                  <a:srgbClr val="5A3C41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b="0" i="0" sz="1334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953"/>
              </a:spcBef>
              <a:spcAft>
                <a:spcPts val="0"/>
              </a:spcAft>
              <a:buClr>
                <a:srgbClr val="000000"/>
              </a:buClr>
              <a:buSzPts val="1144"/>
              <a:buFont typeface="Arial"/>
              <a:buNone/>
            </a:pPr>
            <a:r>
              <a:rPr b="1" i="0" lang="en-US" sz="1334" u="none" cap="none" strike="noStrike">
                <a:solidFill>
                  <a:srgbClr val="8F3645"/>
                </a:solidFill>
                <a:latin typeface="Calibri"/>
                <a:ea typeface="Calibri"/>
                <a:cs typeface="Calibri"/>
                <a:sym typeface="Calibri"/>
              </a:rPr>
              <a:t>KEY DEPLOYMENT ADVANTAGES</a:t>
            </a:r>
            <a:endParaRPr b="0" i="0" sz="1334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381"/>
              </a:spcBef>
              <a:spcAft>
                <a:spcPts val="0"/>
              </a:spcAft>
              <a:buClr>
                <a:srgbClr val="000000"/>
              </a:buClr>
              <a:buSzPts val="1048"/>
              <a:buFont typeface="Arial"/>
              <a:buNone/>
            </a:pPr>
            <a:r>
              <a:rPr b="1" i="0" lang="en-US" sz="1144" u="none" cap="none" strike="noStrike">
                <a:solidFill>
                  <a:srgbClr val="2D181C"/>
                </a:solidFill>
                <a:latin typeface="Calibri"/>
                <a:ea typeface="Calibri"/>
                <a:cs typeface="Calibri"/>
                <a:sym typeface="Calibri"/>
              </a:rPr>
              <a:t>✓ </a:t>
            </a:r>
            <a:r>
              <a:rPr b="1" lang="en-US" sz="1144">
                <a:solidFill>
                  <a:srgbClr val="2D181C"/>
                </a:solidFill>
                <a:latin typeface="Calibri"/>
                <a:ea typeface="Calibri"/>
                <a:cs typeface="Calibri"/>
                <a:sym typeface="Calibri"/>
              </a:rPr>
              <a:t>Sub-second</a:t>
            </a:r>
            <a:r>
              <a:rPr b="1" i="0" lang="en-US" sz="1144" u="none" cap="none" strike="noStrike">
                <a:solidFill>
                  <a:srgbClr val="2D181C"/>
                </a:solidFill>
                <a:latin typeface="Calibri"/>
                <a:ea typeface="Calibri"/>
                <a:cs typeface="Calibri"/>
                <a:sym typeface="Calibri"/>
              </a:rPr>
              <a:t> response on tested instance</a:t>
            </a:r>
            <a:r>
              <a:rPr b="1" lang="en-US" sz="1144">
                <a:solidFill>
                  <a:srgbClr val="2D181C"/>
                </a:solidFill>
                <a:latin typeface="Calibri"/>
                <a:ea typeface="Calibri"/>
                <a:cs typeface="Calibri"/>
                <a:sym typeface="Calibri"/>
              </a:rPr>
              <a:t>s</a:t>
            </a:r>
            <a:endParaRPr b="0" i="0" sz="1144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286"/>
              </a:spcBef>
              <a:spcAft>
                <a:spcPts val="0"/>
              </a:spcAft>
              <a:buClr>
                <a:srgbClr val="000000"/>
              </a:buClr>
              <a:buSzPts val="1048"/>
              <a:buFont typeface="Arial"/>
              <a:buNone/>
            </a:pPr>
            <a:r>
              <a:rPr b="1" i="0" lang="en-US" sz="1144" u="none" cap="none" strike="noStrike">
                <a:solidFill>
                  <a:srgbClr val="2D181C"/>
                </a:solidFill>
                <a:latin typeface="Calibri"/>
                <a:ea typeface="Calibri"/>
                <a:cs typeface="Calibri"/>
                <a:sym typeface="Calibri"/>
              </a:rPr>
              <a:t>✓ </a:t>
            </a:r>
            <a:r>
              <a:rPr b="1" lang="en-US" sz="1144">
                <a:solidFill>
                  <a:srgbClr val="2D181C"/>
                </a:solidFill>
                <a:latin typeface="Calibri"/>
                <a:ea typeface="Calibri"/>
                <a:cs typeface="Calibri"/>
                <a:sym typeface="Calibri"/>
              </a:rPr>
              <a:t>No qubit-based ceiling; scales with classical compute</a:t>
            </a:r>
            <a:endParaRPr b="0" i="0" sz="1144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286"/>
              </a:spcBef>
              <a:spcAft>
                <a:spcPts val="0"/>
              </a:spcAft>
              <a:buClr>
                <a:srgbClr val="000000"/>
              </a:buClr>
              <a:buSzPts val="1048"/>
              <a:buFont typeface="Arial"/>
              <a:buNone/>
            </a:pPr>
            <a:r>
              <a:rPr b="1" i="0" lang="en-US" sz="1144" u="none" cap="none" strike="noStrike">
                <a:solidFill>
                  <a:srgbClr val="2D181C"/>
                </a:solidFill>
                <a:latin typeface="Calibri"/>
                <a:ea typeface="Calibri"/>
                <a:cs typeface="Calibri"/>
                <a:sym typeface="Calibri"/>
              </a:rPr>
              <a:t>✓ No quantum-hardware noise</a:t>
            </a:r>
            <a:endParaRPr b="0" i="0" sz="1144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EF9F1"/>
        </a:solidFill>
      </p:bgPr>
    </p:bg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6"/>
          <p:cNvSpPr/>
          <p:nvPr/>
        </p:nvSpPr>
        <p:spPr>
          <a:xfrm>
            <a:off x="-2788990" y="4565025"/>
            <a:ext cx="5852100" cy="4755000"/>
          </a:xfrm>
          <a:prstGeom prst="roundRect">
            <a:avLst>
              <a:gd fmla="val 9615" name="adj"/>
            </a:avLst>
          </a:prstGeom>
          <a:solidFill>
            <a:srgbClr val="F5EBDA"/>
          </a:solidFill>
          <a:ln cap="flat" cmpd="sng" w="12700">
            <a:solidFill>
              <a:srgbClr val="F5EBD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8" name="Google Shape;188;p6"/>
          <p:cNvSpPr txBox="1"/>
          <p:nvPr/>
        </p:nvSpPr>
        <p:spPr>
          <a:xfrm>
            <a:off x="731520" y="476794"/>
            <a:ext cx="105156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F3645"/>
              </a:buClr>
              <a:buSzPts val="1200"/>
              <a:buFont typeface="Calibri"/>
              <a:buNone/>
            </a:pPr>
            <a:r>
              <a:rPr b="1" i="0" lang="en-US" sz="1600" u="none" cap="none" strike="noStrike">
                <a:solidFill>
                  <a:srgbClr val="8F3645"/>
                </a:solidFill>
                <a:latin typeface="Calibri"/>
                <a:ea typeface="Calibri"/>
                <a:cs typeface="Calibri"/>
                <a:sym typeface="Calibri"/>
              </a:rPr>
              <a:t>CONCLUSION &amp; NEXT STEPS</a:t>
            </a:r>
            <a:endParaRPr b="0" i="0" sz="1600" u="none" cap="none" strike="noStrike">
              <a:solidFill>
                <a:srgbClr val="2D181C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6"/>
          <p:cNvSpPr txBox="1"/>
          <p:nvPr/>
        </p:nvSpPr>
        <p:spPr>
          <a:xfrm>
            <a:off x="731520" y="796834"/>
            <a:ext cx="106986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D181C"/>
              </a:buClr>
              <a:buSzPts val="3000"/>
              <a:buFont typeface="Cambria"/>
              <a:buNone/>
            </a:pPr>
            <a:r>
              <a:rPr b="1" lang="en-US" sz="3000">
                <a:solidFill>
                  <a:srgbClr val="2D181C"/>
                </a:solidFill>
                <a:latin typeface="Cambria"/>
                <a:ea typeface="Cambria"/>
                <a:cs typeface="Cambria"/>
                <a:sym typeface="Cambria"/>
              </a:rPr>
              <a:t>Classical</a:t>
            </a:r>
            <a:r>
              <a:rPr b="1" i="0" lang="en-US" sz="3000" u="none" cap="none" strike="noStrike">
                <a:solidFill>
                  <a:srgbClr val="2D181C"/>
                </a:solidFill>
                <a:latin typeface="Cambria"/>
                <a:ea typeface="Cambria"/>
                <a:cs typeface="Cambria"/>
                <a:sym typeface="Cambria"/>
              </a:rPr>
              <a:t> today, quantum-ready for </a:t>
            </a:r>
            <a:r>
              <a:rPr b="1" lang="en-US" sz="3000">
                <a:solidFill>
                  <a:srgbClr val="2D181C"/>
                </a:solidFill>
                <a:latin typeface="Cambria"/>
                <a:ea typeface="Cambria"/>
                <a:cs typeface="Cambria"/>
                <a:sym typeface="Cambria"/>
              </a:rPr>
              <a:t>large-scale testing</a:t>
            </a:r>
            <a:endParaRPr b="0" i="0" sz="3000" u="none" cap="none" strike="noStrike">
              <a:solidFill>
                <a:srgbClr val="2D181C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6"/>
          <p:cNvSpPr txBox="1"/>
          <p:nvPr/>
        </p:nvSpPr>
        <p:spPr>
          <a:xfrm>
            <a:off x="731525" y="1436914"/>
            <a:ext cx="10698600" cy="75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3C41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5A3C41"/>
                </a:solidFill>
                <a:latin typeface="Calibri"/>
                <a:ea typeface="Calibri"/>
                <a:cs typeface="Calibri"/>
                <a:sym typeface="Calibri"/>
              </a:rPr>
              <a:t>QAOA matched the certified optimum on all five dates; MILP is 15-20× faster with no qubit ceiling. What scales is the methodology - certified-optimum scoring, multi-seed robustness and per-order planner views carry straight to the full order book. In practice: fewer manual overrides, and diversions that manual planning could otherwise miss.</a:t>
            </a:r>
            <a:endParaRPr b="0" i="0" sz="1400" u="none" cap="none" strike="noStrike">
              <a:solidFill>
                <a:srgbClr val="2D181C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6"/>
          <p:cNvSpPr/>
          <p:nvPr/>
        </p:nvSpPr>
        <p:spPr>
          <a:xfrm>
            <a:off x="601894" y="2377985"/>
            <a:ext cx="2608200" cy="2194500"/>
          </a:xfrm>
          <a:prstGeom prst="roundRect">
            <a:avLst>
              <a:gd fmla="val 3333" name="adj"/>
            </a:avLst>
          </a:prstGeom>
          <a:solidFill>
            <a:srgbClr val="FFFFFF"/>
          </a:solidFill>
          <a:ln cap="flat" cmpd="sng" w="12700">
            <a:solidFill>
              <a:srgbClr val="A03C4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2" name="Google Shape;192;p6"/>
          <p:cNvSpPr/>
          <p:nvPr/>
        </p:nvSpPr>
        <p:spPr>
          <a:xfrm>
            <a:off x="830489" y="2536068"/>
            <a:ext cx="420600" cy="420600"/>
          </a:xfrm>
          <a:prstGeom prst="ellipse">
            <a:avLst/>
          </a:prstGeom>
          <a:solidFill>
            <a:srgbClr val="F0E4CE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3" name="Google Shape;193;p6"/>
          <p:cNvSpPr txBox="1"/>
          <p:nvPr/>
        </p:nvSpPr>
        <p:spPr>
          <a:xfrm>
            <a:off x="830489" y="2536068"/>
            <a:ext cx="420600" cy="42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F3645"/>
              </a:buClr>
              <a:buSzPts val="2000"/>
              <a:buFont typeface="Cambria"/>
              <a:buNone/>
            </a:pPr>
            <a:r>
              <a:rPr b="1" i="0" lang="en-US" sz="2000" u="none" cap="none" strike="noStrike">
                <a:solidFill>
                  <a:srgbClr val="8F3645"/>
                </a:solidFill>
                <a:latin typeface="Cambria"/>
                <a:ea typeface="Cambria"/>
                <a:cs typeface="Cambria"/>
                <a:sym typeface="Cambria"/>
              </a:rPr>
              <a:t>01</a:t>
            </a:r>
            <a:endParaRPr b="0" i="0" sz="2000" u="none" cap="none" strike="noStrike">
              <a:solidFill>
                <a:srgbClr val="2D181C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6"/>
          <p:cNvSpPr txBox="1"/>
          <p:nvPr/>
        </p:nvSpPr>
        <p:spPr>
          <a:xfrm>
            <a:off x="833131" y="2979542"/>
            <a:ext cx="21273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D181C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2D181C"/>
                </a:solidFill>
                <a:latin typeface="Calibri"/>
                <a:ea typeface="Calibri"/>
                <a:cs typeface="Calibri"/>
                <a:sym typeface="Calibri"/>
              </a:rPr>
              <a:t>Column reduction</a:t>
            </a:r>
            <a:endParaRPr b="0" i="0" sz="1400" u="none" cap="none" strike="noStrike">
              <a:solidFill>
                <a:srgbClr val="2D181C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6"/>
          <p:cNvSpPr txBox="1"/>
          <p:nvPr/>
        </p:nvSpPr>
        <p:spPr>
          <a:xfrm>
            <a:off x="833131" y="3394833"/>
            <a:ext cx="2127300" cy="118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3C41"/>
              </a:buClr>
              <a:buSzPts val="1150"/>
              <a:buFont typeface="Calibri"/>
              <a:buNone/>
            </a:pPr>
            <a:r>
              <a:rPr b="0" i="0" lang="en-US" sz="1200" u="none" cap="none" strike="noStrike">
                <a:solidFill>
                  <a:srgbClr val="5A3C41"/>
                </a:solidFill>
                <a:latin typeface="Calibri"/>
                <a:ea typeface="Calibri"/>
                <a:cs typeface="Calibri"/>
                <a:sym typeface="Calibri"/>
              </a:rPr>
              <a:t>Prune dominated candidate DCs before the QUBO is built - fewer qubits, no loss of optimality.</a:t>
            </a:r>
            <a:endParaRPr b="0" i="0" sz="1200" u="none" cap="none" strike="noStrike">
              <a:solidFill>
                <a:srgbClr val="2D181C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6"/>
          <p:cNvSpPr/>
          <p:nvPr/>
        </p:nvSpPr>
        <p:spPr>
          <a:xfrm>
            <a:off x="3395231" y="2377985"/>
            <a:ext cx="2608200" cy="2194500"/>
          </a:xfrm>
          <a:prstGeom prst="roundRect">
            <a:avLst>
              <a:gd fmla="val 3333" name="adj"/>
            </a:avLst>
          </a:prstGeom>
          <a:solidFill>
            <a:srgbClr val="FFFFFF"/>
          </a:solidFill>
          <a:ln cap="flat" cmpd="sng" w="12700">
            <a:solidFill>
              <a:srgbClr val="A03C4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7" name="Google Shape;197;p6"/>
          <p:cNvSpPr/>
          <p:nvPr/>
        </p:nvSpPr>
        <p:spPr>
          <a:xfrm>
            <a:off x="3591977" y="2536068"/>
            <a:ext cx="420600" cy="420600"/>
          </a:xfrm>
          <a:prstGeom prst="ellipse">
            <a:avLst/>
          </a:prstGeom>
          <a:solidFill>
            <a:srgbClr val="F0E4CE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8" name="Google Shape;198;p6"/>
          <p:cNvSpPr txBox="1"/>
          <p:nvPr/>
        </p:nvSpPr>
        <p:spPr>
          <a:xfrm>
            <a:off x="3591977" y="2536068"/>
            <a:ext cx="420600" cy="42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F3645"/>
              </a:buClr>
              <a:buSzPts val="2000"/>
              <a:buFont typeface="Cambria"/>
              <a:buNone/>
            </a:pPr>
            <a:r>
              <a:rPr b="1" i="0" lang="en-US" sz="2000" u="none" cap="none" strike="noStrike">
                <a:solidFill>
                  <a:srgbClr val="8F3645"/>
                </a:solidFill>
                <a:latin typeface="Cambria"/>
                <a:ea typeface="Cambria"/>
                <a:cs typeface="Cambria"/>
                <a:sym typeface="Cambria"/>
              </a:rPr>
              <a:t>02</a:t>
            </a:r>
            <a:endParaRPr b="0" i="0" sz="2000" u="none" cap="none" strike="noStrike">
              <a:solidFill>
                <a:srgbClr val="2D181C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6"/>
          <p:cNvSpPr txBox="1"/>
          <p:nvPr/>
        </p:nvSpPr>
        <p:spPr>
          <a:xfrm>
            <a:off x="3626468" y="2979542"/>
            <a:ext cx="21273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D181C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2D181C"/>
                </a:solidFill>
                <a:latin typeface="Calibri"/>
                <a:ea typeface="Calibri"/>
                <a:cs typeface="Calibri"/>
                <a:sym typeface="Calibri"/>
              </a:rPr>
              <a:t>Problem batching</a:t>
            </a:r>
            <a:endParaRPr b="0" i="0" sz="1400" u="none" cap="none" strike="noStrike">
              <a:solidFill>
                <a:srgbClr val="2D181C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6"/>
          <p:cNvSpPr txBox="1"/>
          <p:nvPr/>
        </p:nvSpPr>
        <p:spPr>
          <a:xfrm>
            <a:off x="3626468" y="3394833"/>
            <a:ext cx="2127300" cy="118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3C41"/>
              </a:buClr>
              <a:buSzPts val="1150"/>
              <a:buFont typeface="Calibri"/>
              <a:buNone/>
            </a:pPr>
            <a:r>
              <a:rPr b="0" i="0" lang="en-US" sz="1200" u="none" cap="none" strike="noStrike">
                <a:solidFill>
                  <a:srgbClr val="5A3C41"/>
                </a:solidFill>
                <a:latin typeface="Calibri"/>
                <a:ea typeface="Calibri"/>
                <a:cs typeface="Calibri"/>
                <a:sym typeface="Calibri"/>
              </a:rPr>
              <a:t>Partition the 82-order pool into clustered ~5-order subproblems to bypass the simulator limit.</a:t>
            </a:r>
            <a:endParaRPr b="0" i="0" sz="1200" u="none" cap="none" strike="noStrike">
              <a:solidFill>
                <a:srgbClr val="2D181C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6"/>
          <p:cNvSpPr/>
          <p:nvPr/>
        </p:nvSpPr>
        <p:spPr>
          <a:xfrm>
            <a:off x="6188569" y="2377985"/>
            <a:ext cx="2608200" cy="2194500"/>
          </a:xfrm>
          <a:prstGeom prst="roundRect">
            <a:avLst>
              <a:gd fmla="val 3333" name="adj"/>
            </a:avLst>
          </a:prstGeom>
          <a:solidFill>
            <a:srgbClr val="FFFFFF"/>
          </a:solidFill>
          <a:ln cap="flat" cmpd="sng" w="12700">
            <a:solidFill>
              <a:srgbClr val="A03C4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2" name="Google Shape;202;p6"/>
          <p:cNvSpPr/>
          <p:nvPr/>
        </p:nvSpPr>
        <p:spPr>
          <a:xfrm>
            <a:off x="6353465" y="2536068"/>
            <a:ext cx="420600" cy="420600"/>
          </a:xfrm>
          <a:prstGeom prst="ellipse">
            <a:avLst/>
          </a:prstGeom>
          <a:solidFill>
            <a:srgbClr val="F0E4CE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3" name="Google Shape;203;p6"/>
          <p:cNvSpPr txBox="1"/>
          <p:nvPr/>
        </p:nvSpPr>
        <p:spPr>
          <a:xfrm>
            <a:off x="6353465" y="2536068"/>
            <a:ext cx="420600" cy="42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F3645"/>
              </a:buClr>
              <a:buSzPts val="2000"/>
              <a:buFont typeface="Cambria"/>
              <a:buNone/>
            </a:pPr>
            <a:r>
              <a:rPr b="1" i="0" lang="en-US" sz="2000" u="none" cap="none" strike="noStrike">
                <a:solidFill>
                  <a:srgbClr val="8F3645"/>
                </a:solidFill>
                <a:latin typeface="Cambria"/>
                <a:ea typeface="Cambria"/>
                <a:cs typeface="Cambria"/>
                <a:sym typeface="Cambria"/>
              </a:rPr>
              <a:t>03</a:t>
            </a:r>
            <a:endParaRPr b="0" i="0" sz="2000" u="none" cap="none" strike="noStrike">
              <a:solidFill>
                <a:srgbClr val="2D181C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6"/>
          <p:cNvSpPr txBox="1"/>
          <p:nvPr/>
        </p:nvSpPr>
        <p:spPr>
          <a:xfrm>
            <a:off x="6419805" y="2979542"/>
            <a:ext cx="21273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D181C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2D181C"/>
                </a:solidFill>
                <a:latin typeface="Calibri"/>
                <a:ea typeface="Calibri"/>
                <a:cs typeface="Calibri"/>
                <a:sym typeface="Calibri"/>
              </a:rPr>
              <a:t>Error mitigation</a:t>
            </a:r>
            <a:endParaRPr b="0" i="0" sz="1400" u="none" cap="none" strike="noStrike">
              <a:solidFill>
                <a:srgbClr val="2D181C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6"/>
          <p:cNvSpPr txBox="1"/>
          <p:nvPr/>
        </p:nvSpPr>
        <p:spPr>
          <a:xfrm>
            <a:off x="6419805" y="3394833"/>
            <a:ext cx="2127300" cy="118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3C41"/>
              </a:buClr>
              <a:buSzPts val="1150"/>
              <a:buFont typeface="Calibri"/>
              <a:buNone/>
            </a:pPr>
            <a:r>
              <a:rPr b="0" i="0" lang="en-US" sz="1200" u="none" cap="none" strike="noStrike">
                <a:solidFill>
                  <a:srgbClr val="5A3C41"/>
                </a:solidFill>
                <a:latin typeface="Calibri"/>
                <a:ea typeface="Calibri"/>
                <a:cs typeface="Calibri"/>
                <a:sym typeface="Calibri"/>
              </a:rPr>
              <a:t>Zero-noise extrapolation and readout calibration on real QPUs to suppress subspace leakage.</a:t>
            </a:r>
            <a:endParaRPr b="0" i="0" sz="1200" u="none" cap="none" strike="noStrike">
              <a:solidFill>
                <a:srgbClr val="2D181C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6"/>
          <p:cNvSpPr/>
          <p:nvPr/>
        </p:nvSpPr>
        <p:spPr>
          <a:xfrm>
            <a:off x="8981906" y="2377985"/>
            <a:ext cx="2608200" cy="2194500"/>
          </a:xfrm>
          <a:prstGeom prst="roundRect">
            <a:avLst>
              <a:gd fmla="val 3333" name="adj"/>
            </a:avLst>
          </a:prstGeom>
          <a:solidFill>
            <a:srgbClr val="FFFFFF"/>
          </a:solidFill>
          <a:ln cap="flat" cmpd="sng" w="12700">
            <a:solidFill>
              <a:srgbClr val="A03C4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7" name="Google Shape;207;p6"/>
          <p:cNvSpPr/>
          <p:nvPr/>
        </p:nvSpPr>
        <p:spPr>
          <a:xfrm>
            <a:off x="9114953" y="2536068"/>
            <a:ext cx="420600" cy="420600"/>
          </a:xfrm>
          <a:prstGeom prst="ellipse">
            <a:avLst/>
          </a:prstGeom>
          <a:solidFill>
            <a:srgbClr val="F0E4CE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8" name="Google Shape;208;p6"/>
          <p:cNvSpPr txBox="1"/>
          <p:nvPr/>
        </p:nvSpPr>
        <p:spPr>
          <a:xfrm>
            <a:off x="9114953" y="2536068"/>
            <a:ext cx="420600" cy="42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F3645"/>
              </a:buClr>
              <a:buSzPts val="2000"/>
              <a:buFont typeface="Cambria"/>
              <a:buNone/>
            </a:pPr>
            <a:r>
              <a:rPr b="1" i="0" lang="en-US" sz="2000" u="none" cap="none" strike="noStrike">
                <a:solidFill>
                  <a:srgbClr val="8F3645"/>
                </a:solidFill>
                <a:latin typeface="Cambria"/>
                <a:ea typeface="Cambria"/>
                <a:cs typeface="Cambria"/>
                <a:sym typeface="Cambria"/>
              </a:rPr>
              <a:t>04</a:t>
            </a:r>
            <a:endParaRPr b="0" i="0" sz="2000" u="none" cap="none" strike="noStrike">
              <a:solidFill>
                <a:srgbClr val="2D181C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6"/>
          <p:cNvSpPr txBox="1"/>
          <p:nvPr/>
        </p:nvSpPr>
        <p:spPr>
          <a:xfrm>
            <a:off x="9213133" y="2979550"/>
            <a:ext cx="2127300" cy="42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D181C"/>
              </a:buClr>
              <a:buSzPts val="1400"/>
              <a:buFont typeface="Calibri"/>
              <a:buNone/>
            </a:pPr>
            <a:r>
              <a:rPr b="1" lang="en-US">
                <a:solidFill>
                  <a:srgbClr val="2D181C"/>
                </a:solidFill>
                <a:latin typeface="Calibri"/>
                <a:ea typeface="Calibri"/>
                <a:cs typeface="Calibri"/>
                <a:sym typeface="Calibri"/>
              </a:rPr>
              <a:t>Hybrid future Architecture</a:t>
            </a:r>
            <a:r>
              <a:rPr b="1" i="0" lang="en-US" sz="1400" u="none" cap="none" strike="noStrike">
                <a:solidFill>
                  <a:srgbClr val="2D181C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b="0" i="0" sz="1400" u="none" cap="none" strike="noStrike">
              <a:solidFill>
                <a:srgbClr val="2D181C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6"/>
          <p:cNvSpPr txBox="1"/>
          <p:nvPr/>
        </p:nvSpPr>
        <p:spPr>
          <a:xfrm>
            <a:off x="9213142" y="3394833"/>
            <a:ext cx="2127300" cy="118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3C41"/>
              </a:buClr>
              <a:buSzPts val="1150"/>
              <a:buFont typeface="Calibri"/>
              <a:buNone/>
            </a:pPr>
            <a:r>
              <a:rPr b="0" i="0" lang="en-US" sz="1200" u="none" cap="none" strike="noStrike">
                <a:solidFill>
                  <a:srgbClr val="5A3C41"/>
                </a:solidFill>
                <a:latin typeface="Calibri"/>
                <a:ea typeface="Calibri"/>
                <a:cs typeface="Calibri"/>
                <a:sym typeface="Calibri"/>
              </a:rPr>
              <a:t>MILP for </a:t>
            </a:r>
            <a:r>
              <a:rPr lang="en-US" sz="1200">
                <a:solidFill>
                  <a:srgbClr val="5A3C41"/>
                </a:solidFill>
                <a:latin typeface="Calibri"/>
                <a:ea typeface="Calibri"/>
                <a:cs typeface="Calibri"/>
                <a:sym typeface="Calibri"/>
              </a:rPr>
              <a:t>current</a:t>
            </a:r>
            <a:r>
              <a:rPr b="0" i="0" lang="en-US" sz="1200" u="none" cap="none" strike="noStrike">
                <a:solidFill>
                  <a:srgbClr val="5A3C41"/>
                </a:solidFill>
                <a:latin typeface="Calibri"/>
                <a:ea typeface="Calibri"/>
                <a:cs typeface="Calibri"/>
                <a:sym typeface="Calibri"/>
              </a:rPr>
              <a:t> operations</a:t>
            </a:r>
            <a:r>
              <a:rPr lang="en-US" sz="1200">
                <a:solidFill>
                  <a:srgbClr val="5A3C41"/>
                </a:solidFill>
                <a:latin typeface="Calibri"/>
                <a:ea typeface="Calibri"/>
                <a:cs typeface="Calibri"/>
                <a:sym typeface="Calibri"/>
              </a:rPr>
              <a:t>; </a:t>
            </a:r>
            <a:r>
              <a:rPr b="0" i="0" lang="en-US" sz="1200" u="none" cap="none" strike="noStrike">
                <a:solidFill>
                  <a:srgbClr val="5A3C41"/>
                </a:solidFill>
                <a:latin typeface="Calibri"/>
                <a:ea typeface="Calibri"/>
                <a:cs typeface="Calibri"/>
                <a:sym typeface="Calibri"/>
              </a:rPr>
              <a:t>evaluate Q</a:t>
            </a:r>
            <a:r>
              <a:rPr lang="en-US" sz="1200">
                <a:solidFill>
                  <a:srgbClr val="5A3C41"/>
                </a:solidFill>
                <a:latin typeface="Calibri"/>
                <a:ea typeface="Calibri"/>
                <a:cs typeface="Calibri"/>
                <a:sym typeface="Calibri"/>
              </a:rPr>
              <a:t>AOA on larger, high-contention instances, and quantum-AI can be used for automation.</a:t>
            </a:r>
            <a:endParaRPr b="0" i="0" sz="1200" u="none" cap="none" strike="noStrike">
              <a:solidFill>
                <a:srgbClr val="2D181C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11" name="Google Shape;211;p6"/>
          <p:cNvCxnSpPr/>
          <p:nvPr/>
        </p:nvCxnSpPr>
        <p:spPr>
          <a:xfrm>
            <a:off x="731520" y="6015207"/>
            <a:ext cx="10698600" cy="0"/>
          </a:xfrm>
          <a:prstGeom prst="straightConnector1">
            <a:avLst/>
          </a:prstGeom>
          <a:noFill/>
          <a:ln cap="flat" cmpd="sng" w="12700">
            <a:solidFill>
              <a:srgbClr val="E5D8C3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12" name="Google Shape;212;p6"/>
          <p:cNvSpPr txBox="1"/>
          <p:nvPr/>
        </p:nvSpPr>
        <p:spPr>
          <a:xfrm>
            <a:off x="633672" y="5286451"/>
            <a:ext cx="38406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A585E"/>
              </a:buClr>
              <a:buSzPts val="1100"/>
              <a:buFont typeface="Calibri"/>
              <a:buNone/>
            </a:pPr>
            <a:r>
              <a:rPr b="1" i="0" lang="en-US" sz="1400" u="none" cap="none" strike="noStrike">
                <a:solidFill>
                  <a:srgbClr val="8F3645"/>
                </a:solidFill>
                <a:latin typeface="Calibri"/>
                <a:ea typeface="Calibri"/>
                <a:cs typeface="Calibri"/>
                <a:sym typeface="Calibri"/>
              </a:rPr>
              <a:t>Interactive planner app</a:t>
            </a:r>
            <a:br>
              <a:rPr b="0" i="0" lang="en-US" sz="1100" u="none" cap="none" strike="noStrike">
                <a:solidFill>
                  <a:srgbClr val="7A585E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1300" u="sng" cap="none" strike="noStrik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/>
              </a:rPr>
              <a:t>domplanner-convergence.streamlit.app</a:t>
            </a:r>
            <a:endParaRPr b="0" i="0" sz="1100" u="none" cap="none" strike="noStrike">
              <a:solidFill>
                <a:srgbClr val="2D181C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6"/>
          <p:cNvSpPr txBox="1"/>
          <p:nvPr/>
        </p:nvSpPr>
        <p:spPr>
          <a:xfrm>
            <a:off x="5589239" y="5286461"/>
            <a:ext cx="48972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A585E"/>
              </a:buClr>
              <a:buSzPts val="1100"/>
              <a:buFont typeface="Calibri"/>
              <a:buNone/>
            </a:pPr>
            <a:r>
              <a:rPr b="1" i="0" lang="en-US" sz="1400" u="none" cap="none" strike="noStrike">
                <a:solidFill>
                  <a:srgbClr val="8F3645"/>
                </a:solidFill>
                <a:latin typeface="Calibri"/>
                <a:ea typeface="Calibri"/>
                <a:cs typeface="Calibri"/>
                <a:sym typeface="Calibri"/>
              </a:rPr>
              <a:t>Repository</a:t>
            </a:r>
            <a:br>
              <a:rPr b="0" i="0" lang="en-US" sz="1400" u="none" cap="none" strike="noStrike">
                <a:solidFill>
                  <a:srgbClr val="7A585E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1300" u="sng" cap="none" strike="noStrik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4"/>
              </a:rPr>
              <a:t>github.com/HarikaYanamadala/The_Convergents_Nestle_DOM</a:t>
            </a:r>
            <a:endParaRPr b="0" i="0" sz="1100" u="none" cap="none" strike="noStrike">
              <a:solidFill>
                <a:srgbClr val="2D181C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6"/>
          <p:cNvSpPr txBox="1"/>
          <p:nvPr/>
        </p:nvSpPr>
        <p:spPr>
          <a:xfrm>
            <a:off x="731520" y="6067213"/>
            <a:ext cx="27432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D181C"/>
              </a:buClr>
              <a:buSzPts val="2000"/>
              <a:buFont typeface="Cambria"/>
              <a:buNone/>
            </a:pPr>
            <a:r>
              <a:rPr b="1" i="0" lang="en-US" sz="2000" u="none" cap="none" strike="noStrike">
                <a:solidFill>
                  <a:srgbClr val="8F3645"/>
                </a:solidFill>
                <a:latin typeface="Cambria"/>
                <a:ea typeface="Cambria"/>
                <a:cs typeface="Cambria"/>
                <a:sym typeface="Cambria"/>
              </a:rPr>
              <a:t>Thank you.</a:t>
            </a:r>
            <a:endParaRPr b="0" i="0" sz="2000" u="none" cap="none" strike="noStrike">
              <a:solidFill>
                <a:srgbClr val="8F364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6"/>
          <p:cNvSpPr txBox="1"/>
          <p:nvPr/>
        </p:nvSpPr>
        <p:spPr>
          <a:xfrm>
            <a:off x="3657600" y="6231224"/>
            <a:ext cx="77724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A585E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7A585E"/>
                </a:solidFill>
                <a:latin typeface="Calibri"/>
                <a:ea typeface="Calibri"/>
                <a:cs typeface="Calibri"/>
                <a:sym typeface="Calibri"/>
              </a:rPr>
              <a:t>The Convergents  ·  Harika Yanamadala &amp; Induja Bhanu Kodavati</a:t>
            </a:r>
            <a:endParaRPr b="0" i="0" sz="1200" u="none" cap="none" strike="noStrike">
              <a:solidFill>
                <a:srgbClr val="2D181C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claude/icons/rocket_slate.png" id="216" name="Google Shape;216;p6"/>
          <p:cNvPicPr preferRelativeResize="0"/>
          <p:nvPr/>
        </p:nvPicPr>
        <p:blipFill rotWithShape="1">
          <a:blip r:embed="rId5">
            <a:alphaModFix amt="20000"/>
          </a:blip>
          <a:srcRect b="0" l="0" r="0" t="0"/>
          <a:stretch/>
        </p:blipFill>
        <p:spPr>
          <a:xfrm>
            <a:off x="9394359" y="-424860"/>
            <a:ext cx="3291840" cy="329184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7" name="Google Shape;217;p6" title="chrome_qrcode_1790056594895.png"/>
          <p:cNvPicPr preferRelativeResize="0"/>
          <p:nvPr/>
        </p:nvPicPr>
        <p:blipFill rotWithShape="1">
          <a:blip r:embed="rId6">
            <a:alphaModFix/>
          </a:blip>
          <a:srcRect b="26221" l="14520" r="11285" t="24481"/>
          <a:stretch/>
        </p:blipFill>
        <p:spPr>
          <a:xfrm>
            <a:off x="10092025" y="4708700"/>
            <a:ext cx="1413265" cy="1431824"/>
          </a:xfrm>
          <a:prstGeom prst="rect">
            <a:avLst/>
          </a:prstGeom>
          <a:noFill/>
          <a:ln>
            <a:noFill/>
          </a:ln>
        </p:spPr>
      </p:pic>
      <p:pic>
        <p:nvPicPr>
          <p:cNvPr id="218" name="Google Shape;218;p6" title="chrome_qrcode_1790056549847.png"/>
          <p:cNvPicPr preferRelativeResize="0"/>
          <p:nvPr/>
        </p:nvPicPr>
        <p:blipFill rotWithShape="1">
          <a:blip r:embed="rId7">
            <a:alphaModFix/>
          </a:blip>
          <a:srcRect b="26300" l="14317" r="14274" t="25700"/>
          <a:stretch/>
        </p:blipFill>
        <p:spPr>
          <a:xfrm>
            <a:off x="3626475" y="4726750"/>
            <a:ext cx="1391475" cy="143183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Cream Professional">
      <a:dk1>
        <a:srgbClr val="2D2118"/>
      </a:dk1>
      <a:lt1>
        <a:srgbClr val="FEF9F1"/>
      </a:lt1>
      <a:dk2>
        <a:srgbClr val="4A3B2E"/>
      </a:dk2>
      <a:lt2>
        <a:srgbClr val="F3E8D6"/>
      </a:lt2>
      <a:accent1>
        <a:srgbClr val="8F5E36"/>
      </a:accent1>
      <a:accent2>
        <a:srgbClr val="6B4A32"/>
      </a:accent2>
      <a:accent3>
        <a:srgbClr val="A0703C"/>
      </a:accent3>
      <a:accent4>
        <a:srgbClr val="C9A45C"/>
      </a:accent4>
      <a:accent5>
        <a:srgbClr val="7A6A58"/>
      </a:accent5>
      <a:accent6>
        <a:srgbClr val="BFAE97"/>
      </a:accent6>
      <a:hlink>
        <a:srgbClr val="6B4A32"/>
      </a:hlink>
      <a:folHlink>
        <a:srgbClr val="7A6A5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Cream Professional">
      <a:dk1>
        <a:srgbClr val="2D2118"/>
      </a:dk1>
      <a:lt1>
        <a:srgbClr val="FEF9F1"/>
      </a:lt1>
      <a:dk2>
        <a:srgbClr val="4A3B2E"/>
      </a:dk2>
      <a:lt2>
        <a:srgbClr val="F3E8D6"/>
      </a:lt2>
      <a:accent1>
        <a:srgbClr val="8F5E36"/>
      </a:accent1>
      <a:accent2>
        <a:srgbClr val="6B4A32"/>
      </a:accent2>
      <a:accent3>
        <a:srgbClr val="A0703C"/>
      </a:accent3>
      <a:accent4>
        <a:srgbClr val="C9A45C"/>
      </a:accent4>
      <a:accent5>
        <a:srgbClr val="7A6A58"/>
      </a:accent5>
      <a:accent6>
        <a:srgbClr val="BFAE97"/>
      </a:accent6>
      <a:hlink>
        <a:srgbClr val="6B4A32"/>
      </a:hlink>
      <a:folHlink>
        <a:srgbClr val="7A6A5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2026-09-19T09:16:34Z</dcterms:created>
  <dc:creator>PptxGenJS</dc:creator>
</cp:coreProperties>
</file>